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34518-4EC0-4699-A1AE-7CBD3CB57539}" v="269" dt="2025-04-10T10:26:59.682"/>
    <p1510:client id="{DE264BC0-3B90-2079-029C-6997F85311ED}" v="127" dt="2025-04-10T10:46:47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86C98-E887-4687-B2D4-EC15829C8DA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AEBBB9-AB1B-446D-AEF6-5621015190D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73 participants with varied digital experience</a:t>
          </a:r>
          <a:endParaRPr lang="en-US"/>
        </a:p>
      </dgm:t>
    </dgm:pt>
    <dgm:pt modelId="{21DC3449-9D99-4E7B-9992-814E759CA23B}" type="parTrans" cxnId="{AD7A9B8C-6F4A-4670-B284-FADBB90A1CE3}">
      <dgm:prSet/>
      <dgm:spPr/>
      <dgm:t>
        <a:bodyPr/>
        <a:lstStyle/>
        <a:p>
          <a:endParaRPr lang="en-US"/>
        </a:p>
      </dgm:t>
    </dgm:pt>
    <dgm:pt modelId="{B2B580C5-B6EC-435C-9D51-1E3C4D4BC3B6}" type="sibTrans" cxnId="{AD7A9B8C-6F4A-4670-B284-FADBB90A1CE3}">
      <dgm:prSet/>
      <dgm:spPr/>
      <dgm:t>
        <a:bodyPr/>
        <a:lstStyle/>
        <a:p>
          <a:endParaRPr lang="en-US"/>
        </a:p>
      </dgm:t>
    </dgm:pt>
    <dgm:pt modelId="{47202B8D-81F2-4D40-9C6B-D9D34C84B66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Pre-test quiz → 5-minute training video → Post-test quiz</a:t>
          </a:r>
          <a:endParaRPr lang="en-US"/>
        </a:p>
      </dgm:t>
    </dgm:pt>
    <dgm:pt modelId="{618E3BA7-0D93-46A4-B31B-B02A80BE1DE9}" type="parTrans" cxnId="{735696B9-5EA6-45EE-A597-6604B9D56B6F}">
      <dgm:prSet/>
      <dgm:spPr/>
      <dgm:t>
        <a:bodyPr/>
        <a:lstStyle/>
        <a:p>
          <a:endParaRPr lang="en-US"/>
        </a:p>
      </dgm:t>
    </dgm:pt>
    <dgm:pt modelId="{F6B0955A-7BE6-4CF4-A0B5-A5284A4ACC03}" type="sibTrans" cxnId="{735696B9-5EA6-45EE-A597-6604B9D56B6F}">
      <dgm:prSet/>
      <dgm:spPr/>
      <dgm:t>
        <a:bodyPr/>
        <a:lstStyle/>
        <a:p>
          <a:endParaRPr lang="en-US"/>
        </a:p>
      </dgm:t>
    </dgm:pt>
    <dgm:pt modelId="{9B75CC33-9546-43FA-AE4C-CA0DEBE6CCD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Confidence measured via Likert-scale surveys</a:t>
          </a:r>
          <a:endParaRPr lang="en-US"/>
        </a:p>
      </dgm:t>
    </dgm:pt>
    <dgm:pt modelId="{1BDCE5F7-2520-45CF-BA69-62E5070DDFE8}" type="parTrans" cxnId="{36BDFF72-4F2E-4215-8120-81442D5B2225}">
      <dgm:prSet/>
      <dgm:spPr/>
      <dgm:t>
        <a:bodyPr/>
        <a:lstStyle/>
        <a:p>
          <a:endParaRPr lang="en-US"/>
        </a:p>
      </dgm:t>
    </dgm:pt>
    <dgm:pt modelId="{C009E644-F12E-4684-9CFE-9A26439A040A}" type="sibTrans" cxnId="{36BDFF72-4F2E-4215-8120-81442D5B2225}">
      <dgm:prSet/>
      <dgm:spPr/>
      <dgm:t>
        <a:bodyPr/>
        <a:lstStyle/>
        <a:p>
          <a:endParaRPr lang="en-US"/>
        </a:p>
      </dgm:t>
    </dgm:pt>
    <dgm:pt modelId="{AB4469E6-4279-4664-8992-24970CD2B2C7}" type="pres">
      <dgm:prSet presAssocID="{E3686C98-E887-4687-B2D4-EC15829C8DAA}" presName="root" presStyleCnt="0">
        <dgm:presLayoutVars>
          <dgm:dir/>
          <dgm:resizeHandles val="exact"/>
        </dgm:presLayoutVars>
      </dgm:prSet>
      <dgm:spPr/>
    </dgm:pt>
    <dgm:pt modelId="{32B022E1-FE49-4447-80AB-874CBB3AAB95}" type="pres">
      <dgm:prSet presAssocID="{EAAEBBB9-AB1B-446D-AEF6-5621015190D7}" presName="compNode" presStyleCnt="0"/>
      <dgm:spPr/>
    </dgm:pt>
    <dgm:pt modelId="{F749D00A-F621-45C2-A562-2667CB222A58}" type="pres">
      <dgm:prSet presAssocID="{EAAEBBB9-AB1B-446D-AEF6-5621015190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1E69352-CF09-4DE9-95F5-ED4FD0328B3B}" type="pres">
      <dgm:prSet presAssocID="{EAAEBBB9-AB1B-446D-AEF6-5621015190D7}" presName="spaceRect" presStyleCnt="0"/>
      <dgm:spPr/>
    </dgm:pt>
    <dgm:pt modelId="{61086816-37BB-496B-8E46-70278DFEA841}" type="pres">
      <dgm:prSet presAssocID="{EAAEBBB9-AB1B-446D-AEF6-5621015190D7}" presName="textRect" presStyleLbl="revTx" presStyleIdx="0" presStyleCnt="3">
        <dgm:presLayoutVars>
          <dgm:chMax val="1"/>
          <dgm:chPref val="1"/>
        </dgm:presLayoutVars>
      </dgm:prSet>
      <dgm:spPr/>
    </dgm:pt>
    <dgm:pt modelId="{F42EB84E-53F8-49D3-B0C1-F57DFB296DDA}" type="pres">
      <dgm:prSet presAssocID="{B2B580C5-B6EC-435C-9D51-1E3C4D4BC3B6}" presName="sibTrans" presStyleCnt="0"/>
      <dgm:spPr/>
    </dgm:pt>
    <dgm:pt modelId="{63132D16-0F9D-401A-B5D6-65BE8B73F950}" type="pres">
      <dgm:prSet presAssocID="{47202B8D-81F2-4D40-9C6B-D9D34C84B66B}" presName="compNode" presStyleCnt="0"/>
      <dgm:spPr/>
    </dgm:pt>
    <dgm:pt modelId="{2F6DC4B1-C9F6-49C7-A9F5-A94A7CFAAC95}" type="pres">
      <dgm:prSet presAssocID="{47202B8D-81F2-4D40-9C6B-D9D34C84B66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B8C2F5F-72EF-4000-BD54-027E1B8A8F7F}" type="pres">
      <dgm:prSet presAssocID="{47202B8D-81F2-4D40-9C6B-D9D34C84B66B}" presName="spaceRect" presStyleCnt="0"/>
      <dgm:spPr/>
    </dgm:pt>
    <dgm:pt modelId="{D9275963-9263-49A7-B316-163902442653}" type="pres">
      <dgm:prSet presAssocID="{47202B8D-81F2-4D40-9C6B-D9D34C84B66B}" presName="textRect" presStyleLbl="revTx" presStyleIdx="1" presStyleCnt="3">
        <dgm:presLayoutVars>
          <dgm:chMax val="1"/>
          <dgm:chPref val="1"/>
        </dgm:presLayoutVars>
      </dgm:prSet>
      <dgm:spPr/>
    </dgm:pt>
    <dgm:pt modelId="{7E93A212-EE45-4BE7-9EE3-A5B4C99B0328}" type="pres">
      <dgm:prSet presAssocID="{F6B0955A-7BE6-4CF4-A0B5-A5284A4ACC03}" presName="sibTrans" presStyleCnt="0"/>
      <dgm:spPr/>
    </dgm:pt>
    <dgm:pt modelId="{272AFDE9-15CB-4A24-9DFD-E1AE2D0D7030}" type="pres">
      <dgm:prSet presAssocID="{9B75CC33-9546-43FA-AE4C-CA0DEBE6CCD9}" presName="compNode" presStyleCnt="0"/>
      <dgm:spPr/>
    </dgm:pt>
    <dgm:pt modelId="{B1CB2531-1D09-412D-A04F-2F2B360DDF9F}" type="pres">
      <dgm:prSet presAssocID="{9B75CC33-9546-43FA-AE4C-CA0DEBE6CC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AD54A2A6-BF53-4331-86F2-948B51DD5381}" type="pres">
      <dgm:prSet presAssocID="{9B75CC33-9546-43FA-AE4C-CA0DEBE6CCD9}" presName="spaceRect" presStyleCnt="0"/>
      <dgm:spPr/>
    </dgm:pt>
    <dgm:pt modelId="{136458AA-9A7C-44EE-B7B4-80C6A4F28837}" type="pres">
      <dgm:prSet presAssocID="{9B75CC33-9546-43FA-AE4C-CA0DEBE6CC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15C2A2D-DF6E-4178-858C-5F544AAADF81}" type="presOf" srcId="{9B75CC33-9546-43FA-AE4C-CA0DEBE6CCD9}" destId="{136458AA-9A7C-44EE-B7B4-80C6A4F28837}" srcOrd="0" destOrd="0" presId="urn:microsoft.com/office/officeart/2018/2/layout/IconLabelList"/>
    <dgm:cxn modelId="{F1F72A2E-1165-4450-BC51-6EFA3689EB61}" type="presOf" srcId="{EAAEBBB9-AB1B-446D-AEF6-5621015190D7}" destId="{61086816-37BB-496B-8E46-70278DFEA841}" srcOrd="0" destOrd="0" presId="urn:microsoft.com/office/officeart/2018/2/layout/IconLabelList"/>
    <dgm:cxn modelId="{D8E3195C-D40F-4392-9F49-FD11312EF88D}" type="presOf" srcId="{47202B8D-81F2-4D40-9C6B-D9D34C84B66B}" destId="{D9275963-9263-49A7-B316-163902442653}" srcOrd="0" destOrd="0" presId="urn:microsoft.com/office/officeart/2018/2/layout/IconLabelList"/>
    <dgm:cxn modelId="{36BDFF72-4F2E-4215-8120-81442D5B2225}" srcId="{E3686C98-E887-4687-B2D4-EC15829C8DAA}" destId="{9B75CC33-9546-43FA-AE4C-CA0DEBE6CCD9}" srcOrd="2" destOrd="0" parTransId="{1BDCE5F7-2520-45CF-BA69-62E5070DDFE8}" sibTransId="{C009E644-F12E-4684-9CFE-9A26439A040A}"/>
    <dgm:cxn modelId="{ABDB4B54-9F2C-41FE-8CE1-CEC916B53E6D}" type="presOf" srcId="{E3686C98-E887-4687-B2D4-EC15829C8DAA}" destId="{AB4469E6-4279-4664-8992-24970CD2B2C7}" srcOrd="0" destOrd="0" presId="urn:microsoft.com/office/officeart/2018/2/layout/IconLabelList"/>
    <dgm:cxn modelId="{AD7A9B8C-6F4A-4670-B284-FADBB90A1CE3}" srcId="{E3686C98-E887-4687-B2D4-EC15829C8DAA}" destId="{EAAEBBB9-AB1B-446D-AEF6-5621015190D7}" srcOrd="0" destOrd="0" parTransId="{21DC3449-9D99-4E7B-9992-814E759CA23B}" sibTransId="{B2B580C5-B6EC-435C-9D51-1E3C4D4BC3B6}"/>
    <dgm:cxn modelId="{735696B9-5EA6-45EE-A597-6604B9D56B6F}" srcId="{E3686C98-E887-4687-B2D4-EC15829C8DAA}" destId="{47202B8D-81F2-4D40-9C6B-D9D34C84B66B}" srcOrd="1" destOrd="0" parTransId="{618E3BA7-0D93-46A4-B31B-B02A80BE1DE9}" sibTransId="{F6B0955A-7BE6-4CF4-A0B5-A5284A4ACC03}"/>
    <dgm:cxn modelId="{7AC3E2EA-EF94-4C72-95FD-4696D8592988}" type="presParOf" srcId="{AB4469E6-4279-4664-8992-24970CD2B2C7}" destId="{32B022E1-FE49-4447-80AB-874CBB3AAB95}" srcOrd="0" destOrd="0" presId="urn:microsoft.com/office/officeart/2018/2/layout/IconLabelList"/>
    <dgm:cxn modelId="{1324D91A-028C-40F4-B0F7-D7919CC188E0}" type="presParOf" srcId="{32B022E1-FE49-4447-80AB-874CBB3AAB95}" destId="{F749D00A-F621-45C2-A562-2667CB222A58}" srcOrd="0" destOrd="0" presId="urn:microsoft.com/office/officeart/2018/2/layout/IconLabelList"/>
    <dgm:cxn modelId="{8DE28FB7-68C2-42DA-A305-9783675B2EDD}" type="presParOf" srcId="{32B022E1-FE49-4447-80AB-874CBB3AAB95}" destId="{71E69352-CF09-4DE9-95F5-ED4FD0328B3B}" srcOrd="1" destOrd="0" presId="urn:microsoft.com/office/officeart/2018/2/layout/IconLabelList"/>
    <dgm:cxn modelId="{F1E75DBD-73F1-407F-893B-888E5C9768F6}" type="presParOf" srcId="{32B022E1-FE49-4447-80AB-874CBB3AAB95}" destId="{61086816-37BB-496B-8E46-70278DFEA841}" srcOrd="2" destOrd="0" presId="urn:microsoft.com/office/officeart/2018/2/layout/IconLabelList"/>
    <dgm:cxn modelId="{2EA3DF17-2844-4CE3-A433-4F09D0E19FD9}" type="presParOf" srcId="{AB4469E6-4279-4664-8992-24970CD2B2C7}" destId="{F42EB84E-53F8-49D3-B0C1-F57DFB296DDA}" srcOrd="1" destOrd="0" presId="urn:microsoft.com/office/officeart/2018/2/layout/IconLabelList"/>
    <dgm:cxn modelId="{2B8F9ADA-2015-49DE-B493-2EF4B15109AF}" type="presParOf" srcId="{AB4469E6-4279-4664-8992-24970CD2B2C7}" destId="{63132D16-0F9D-401A-B5D6-65BE8B73F950}" srcOrd="2" destOrd="0" presId="urn:microsoft.com/office/officeart/2018/2/layout/IconLabelList"/>
    <dgm:cxn modelId="{EBC7C710-0DA2-4548-A2E1-21E228C8F87A}" type="presParOf" srcId="{63132D16-0F9D-401A-B5D6-65BE8B73F950}" destId="{2F6DC4B1-C9F6-49C7-A9F5-A94A7CFAAC95}" srcOrd="0" destOrd="0" presId="urn:microsoft.com/office/officeart/2018/2/layout/IconLabelList"/>
    <dgm:cxn modelId="{9068D488-3E82-480B-B04A-AE6A68BA2F17}" type="presParOf" srcId="{63132D16-0F9D-401A-B5D6-65BE8B73F950}" destId="{9B8C2F5F-72EF-4000-BD54-027E1B8A8F7F}" srcOrd="1" destOrd="0" presId="urn:microsoft.com/office/officeart/2018/2/layout/IconLabelList"/>
    <dgm:cxn modelId="{FDFFDE05-B531-4335-818B-6A7735F872CF}" type="presParOf" srcId="{63132D16-0F9D-401A-B5D6-65BE8B73F950}" destId="{D9275963-9263-49A7-B316-163902442653}" srcOrd="2" destOrd="0" presId="urn:microsoft.com/office/officeart/2018/2/layout/IconLabelList"/>
    <dgm:cxn modelId="{229FAAE9-3282-41AA-BB55-06BB1823774A}" type="presParOf" srcId="{AB4469E6-4279-4664-8992-24970CD2B2C7}" destId="{7E93A212-EE45-4BE7-9EE3-A5B4C99B0328}" srcOrd="3" destOrd="0" presId="urn:microsoft.com/office/officeart/2018/2/layout/IconLabelList"/>
    <dgm:cxn modelId="{B57700EE-F11C-4B83-9486-9809D388413D}" type="presParOf" srcId="{AB4469E6-4279-4664-8992-24970CD2B2C7}" destId="{272AFDE9-15CB-4A24-9DFD-E1AE2D0D7030}" srcOrd="4" destOrd="0" presId="urn:microsoft.com/office/officeart/2018/2/layout/IconLabelList"/>
    <dgm:cxn modelId="{DA98EE7B-97DA-4BEA-A3CC-EC093D31375C}" type="presParOf" srcId="{272AFDE9-15CB-4A24-9DFD-E1AE2D0D7030}" destId="{B1CB2531-1D09-412D-A04F-2F2B360DDF9F}" srcOrd="0" destOrd="0" presId="urn:microsoft.com/office/officeart/2018/2/layout/IconLabelList"/>
    <dgm:cxn modelId="{289F2D1E-FB3F-4B9B-ABA2-9F83F561F156}" type="presParOf" srcId="{272AFDE9-15CB-4A24-9DFD-E1AE2D0D7030}" destId="{AD54A2A6-BF53-4331-86F2-948B51DD5381}" srcOrd="1" destOrd="0" presId="urn:microsoft.com/office/officeart/2018/2/layout/IconLabelList"/>
    <dgm:cxn modelId="{3F4CB26C-DDCD-41E5-990C-2FD3B073248A}" type="presParOf" srcId="{272AFDE9-15CB-4A24-9DFD-E1AE2D0D7030}" destId="{136458AA-9A7C-44EE-B7B4-80C6A4F2883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146D7D-254B-4070-A6EB-1FCF6FF85EAD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B8F3ABB-BB19-486C-A36D-E9271E3E662C}">
      <dgm:prSet/>
      <dgm:spPr/>
      <dgm:t>
        <a:bodyPr/>
        <a:lstStyle/>
        <a:p>
          <a:r>
            <a:rPr lang="en-GB"/>
            <a:t>5-minute training video on phishing detection</a:t>
          </a:r>
          <a:endParaRPr lang="en-US"/>
        </a:p>
      </dgm:t>
    </dgm:pt>
    <dgm:pt modelId="{CFB25434-10ED-427A-AA2E-0A9286F74012}" type="parTrans" cxnId="{04C26AD2-2656-48B2-ACBE-820EF6F5AEF3}">
      <dgm:prSet/>
      <dgm:spPr/>
      <dgm:t>
        <a:bodyPr/>
        <a:lstStyle/>
        <a:p>
          <a:endParaRPr lang="en-US"/>
        </a:p>
      </dgm:t>
    </dgm:pt>
    <dgm:pt modelId="{26027A06-7E9E-4748-9DDD-5B3B43316919}" type="sibTrans" cxnId="{04C26AD2-2656-48B2-ACBE-820EF6F5AEF3}">
      <dgm:prSet/>
      <dgm:spPr/>
      <dgm:t>
        <a:bodyPr/>
        <a:lstStyle/>
        <a:p>
          <a:endParaRPr lang="en-US"/>
        </a:p>
      </dgm:t>
    </dgm:pt>
    <dgm:pt modelId="{7A5F8986-BA1C-4E94-AA86-852FE8FC20C3}">
      <dgm:prSet/>
      <dgm:spPr/>
      <dgm:t>
        <a:bodyPr/>
        <a:lstStyle/>
        <a:p>
          <a:r>
            <a:rPr lang="en-GB"/>
            <a:t>Covered emotional manipulation &amp; red flag indicators</a:t>
          </a:r>
          <a:endParaRPr lang="en-US"/>
        </a:p>
      </dgm:t>
    </dgm:pt>
    <dgm:pt modelId="{1B3F3EC7-9C9D-4443-AF4B-7EEC9F5F1DC8}" type="parTrans" cxnId="{25792656-A1C3-46FF-91A3-74EB6F0AC072}">
      <dgm:prSet/>
      <dgm:spPr/>
      <dgm:t>
        <a:bodyPr/>
        <a:lstStyle/>
        <a:p>
          <a:endParaRPr lang="en-US"/>
        </a:p>
      </dgm:t>
    </dgm:pt>
    <dgm:pt modelId="{BB97E511-343F-4C40-996C-1A8A601A77F4}" type="sibTrans" cxnId="{25792656-A1C3-46FF-91A3-74EB6F0AC072}">
      <dgm:prSet/>
      <dgm:spPr/>
      <dgm:t>
        <a:bodyPr/>
        <a:lstStyle/>
        <a:p>
          <a:endParaRPr lang="en-US"/>
        </a:p>
      </dgm:t>
    </dgm:pt>
    <dgm:pt modelId="{92FB5317-E7BD-49C7-A778-03F49E4FCF36}">
      <dgm:prSet/>
      <dgm:spPr/>
      <dgm:t>
        <a:bodyPr/>
        <a:lstStyle/>
        <a:p>
          <a:r>
            <a:rPr lang="en-GB"/>
            <a:t>Detection checklist integrated into the video</a:t>
          </a:r>
          <a:endParaRPr lang="en-US"/>
        </a:p>
      </dgm:t>
    </dgm:pt>
    <dgm:pt modelId="{3C063925-30FD-40FF-9739-9245477CC496}" type="parTrans" cxnId="{AB0C0B4A-A2E7-47A9-93D3-8F0CB8C930FC}">
      <dgm:prSet/>
      <dgm:spPr/>
      <dgm:t>
        <a:bodyPr/>
        <a:lstStyle/>
        <a:p>
          <a:endParaRPr lang="en-US"/>
        </a:p>
      </dgm:t>
    </dgm:pt>
    <dgm:pt modelId="{63542F4D-55BD-4D58-B8D7-08CD4BA15810}" type="sibTrans" cxnId="{AB0C0B4A-A2E7-47A9-93D3-8F0CB8C930FC}">
      <dgm:prSet/>
      <dgm:spPr/>
      <dgm:t>
        <a:bodyPr/>
        <a:lstStyle/>
        <a:p>
          <a:endParaRPr lang="en-US"/>
        </a:p>
      </dgm:t>
    </dgm:pt>
    <dgm:pt modelId="{D368D685-161E-4AB9-9462-C0F59D6C3483}">
      <dgm:prSet/>
      <dgm:spPr/>
      <dgm:t>
        <a:bodyPr/>
        <a:lstStyle/>
        <a:p>
          <a:r>
            <a:rPr lang="en-GB"/>
            <a:t>Leaderboard and certificates used for motivation</a:t>
          </a:r>
          <a:endParaRPr lang="en-US"/>
        </a:p>
      </dgm:t>
    </dgm:pt>
    <dgm:pt modelId="{AFEC5DBF-1D2C-4219-B2F0-05AC11C370C4}" type="parTrans" cxnId="{1A2138EA-6820-4A2A-9BAF-D9E4D2897892}">
      <dgm:prSet/>
      <dgm:spPr/>
      <dgm:t>
        <a:bodyPr/>
        <a:lstStyle/>
        <a:p>
          <a:endParaRPr lang="en-US"/>
        </a:p>
      </dgm:t>
    </dgm:pt>
    <dgm:pt modelId="{FF8A4D99-E9A2-437B-A1F1-A29CD4DF8F0A}" type="sibTrans" cxnId="{1A2138EA-6820-4A2A-9BAF-D9E4D2897892}">
      <dgm:prSet/>
      <dgm:spPr/>
      <dgm:t>
        <a:bodyPr/>
        <a:lstStyle/>
        <a:p>
          <a:endParaRPr lang="en-US"/>
        </a:p>
      </dgm:t>
    </dgm:pt>
    <dgm:pt modelId="{A87F9C23-1BBB-43B4-ADED-74CDDA577D5D}" type="pres">
      <dgm:prSet presAssocID="{7B146D7D-254B-4070-A6EB-1FCF6FF85EAD}" presName="diagram" presStyleCnt="0">
        <dgm:presLayoutVars>
          <dgm:dir/>
          <dgm:resizeHandles val="exact"/>
        </dgm:presLayoutVars>
      </dgm:prSet>
      <dgm:spPr/>
    </dgm:pt>
    <dgm:pt modelId="{FE7261EE-1703-4422-AAC6-0DCD1F343D39}" type="pres">
      <dgm:prSet presAssocID="{2B8F3ABB-BB19-486C-A36D-E9271E3E662C}" presName="node" presStyleLbl="node1" presStyleIdx="0" presStyleCnt="4">
        <dgm:presLayoutVars>
          <dgm:bulletEnabled val="1"/>
        </dgm:presLayoutVars>
      </dgm:prSet>
      <dgm:spPr/>
    </dgm:pt>
    <dgm:pt modelId="{D362DA0F-4EBF-4C9A-AC12-8ECF46B11989}" type="pres">
      <dgm:prSet presAssocID="{26027A06-7E9E-4748-9DDD-5B3B43316919}" presName="sibTrans" presStyleCnt="0"/>
      <dgm:spPr/>
    </dgm:pt>
    <dgm:pt modelId="{704278BD-9B71-492B-B264-27865470E9A7}" type="pres">
      <dgm:prSet presAssocID="{7A5F8986-BA1C-4E94-AA86-852FE8FC20C3}" presName="node" presStyleLbl="node1" presStyleIdx="1" presStyleCnt="4">
        <dgm:presLayoutVars>
          <dgm:bulletEnabled val="1"/>
        </dgm:presLayoutVars>
      </dgm:prSet>
      <dgm:spPr/>
    </dgm:pt>
    <dgm:pt modelId="{ADDC1B28-7492-4F7D-984F-0CC7FD3D7632}" type="pres">
      <dgm:prSet presAssocID="{BB97E511-343F-4C40-996C-1A8A601A77F4}" presName="sibTrans" presStyleCnt="0"/>
      <dgm:spPr/>
    </dgm:pt>
    <dgm:pt modelId="{49005264-81F7-4138-BD15-606F9C443C3B}" type="pres">
      <dgm:prSet presAssocID="{92FB5317-E7BD-49C7-A778-03F49E4FCF36}" presName="node" presStyleLbl="node1" presStyleIdx="2" presStyleCnt="4">
        <dgm:presLayoutVars>
          <dgm:bulletEnabled val="1"/>
        </dgm:presLayoutVars>
      </dgm:prSet>
      <dgm:spPr/>
    </dgm:pt>
    <dgm:pt modelId="{C1144CA4-A0C4-41B8-A550-41D24C11802E}" type="pres">
      <dgm:prSet presAssocID="{63542F4D-55BD-4D58-B8D7-08CD4BA15810}" presName="sibTrans" presStyleCnt="0"/>
      <dgm:spPr/>
    </dgm:pt>
    <dgm:pt modelId="{629C45EB-B332-4397-8802-FEA6BD7F9A3D}" type="pres">
      <dgm:prSet presAssocID="{D368D685-161E-4AB9-9462-C0F59D6C3483}" presName="node" presStyleLbl="node1" presStyleIdx="3" presStyleCnt="4">
        <dgm:presLayoutVars>
          <dgm:bulletEnabled val="1"/>
        </dgm:presLayoutVars>
      </dgm:prSet>
      <dgm:spPr/>
    </dgm:pt>
  </dgm:ptLst>
  <dgm:cxnLst>
    <dgm:cxn modelId="{82897F2D-5696-4E8F-898D-C9FFFCE962CE}" type="presOf" srcId="{7A5F8986-BA1C-4E94-AA86-852FE8FC20C3}" destId="{704278BD-9B71-492B-B264-27865470E9A7}" srcOrd="0" destOrd="0" presId="urn:microsoft.com/office/officeart/2005/8/layout/default"/>
    <dgm:cxn modelId="{3D71C933-E361-4DF8-86EF-3C4610769092}" type="presOf" srcId="{D368D685-161E-4AB9-9462-C0F59D6C3483}" destId="{629C45EB-B332-4397-8802-FEA6BD7F9A3D}" srcOrd="0" destOrd="0" presId="urn:microsoft.com/office/officeart/2005/8/layout/default"/>
    <dgm:cxn modelId="{AB0C0B4A-A2E7-47A9-93D3-8F0CB8C930FC}" srcId="{7B146D7D-254B-4070-A6EB-1FCF6FF85EAD}" destId="{92FB5317-E7BD-49C7-A778-03F49E4FCF36}" srcOrd="2" destOrd="0" parTransId="{3C063925-30FD-40FF-9739-9245477CC496}" sibTransId="{63542F4D-55BD-4D58-B8D7-08CD4BA15810}"/>
    <dgm:cxn modelId="{25792656-A1C3-46FF-91A3-74EB6F0AC072}" srcId="{7B146D7D-254B-4070-A6EB-1FCF6FF85EAD}" destId="{7A5F8986-BA1C-4E94-AA86-852FE8FC20C3}" srcOrd="1" destOrd="0" parTransId="{1B3F3EC7-9C9D-4443-AF4B-7EEC9F5F1DC8}" sibTransId="{BB97E511-343F-4C40-996C-1A8A601A77F4}"/>
    <dgm:cxn modelId="{8AA58985-8AE2-4D2D-8A63-E7E44E06B98B}" type="presOf" srcId="{92FB5317-E7BD-49C7-A778-03F49E4FCF36}" destId="{49005264-81F7-4138-BD15-606F9C443C3B}" srcOrd="0" destOrd="0" presId="urn:microsoft.com/office/officeart/2005/8/layout/default"/>
    <dgm:cxn modelId="{710BA3B3-BE0D-4F5B-B861-C822D984048F}" type="presOf" srcId="{7B146D7D-254B-4070-A6EB-1FCF6FF85EAD}" destId="{A87F9C23-1BBB-43B4-ADED-74CDDA577D5D}" srcOrd="0" destOrd="0" presId="urn:microsoft.com/office/officeart/2005/8/layout/default"/>
    <dgm:cxn modelId="{3216C8BB-5ECE-424D-A42C-4AB1C6F8DE95}" type="presOf" srcId="{2B8F3ABB-BB19-486C-A36D-E9271E3E662C}" destId="{FE7261EE-1703-4422-AAC6-0DCD1F343D39}" srcOrd="0" destOrd="0" presId="urn:microsoft.com/office/officeart/2005/8/layout/default"/>
    <dgm:cxn modelId="{04C26AD2-2656-48B2-ACBE-820EF6F5AEF3}" srcId="{7B146D7D-254B-4070-A6EB-1FCF6FF85EAD}" destId="{2B8F3ABB-BB19-486C-A36D-E9271E3E662C}" srcOrd="0" destOrd="0" parTransId="{CFB25434-10ED-427A-AA2E-0A9286F74012}" sibTransId="{26027A06-7E9E-4748-9DDD-5B3B43316919}"/>
    <dgm:cxn modelId="{1A2138EA-6820-4A2A-9BAF-D9E4D2897892}" srcId="{7B146D7D-254B-4070-A6EB-1FCF6FF85EAD}" destId="{D368D685-161E-4AB9-9462-C0F59D6C3483}" srcOrd="3" destOrd="0" parTransId="{AFEC5DBF-1D2C-4219-B2F0-05AC11C370C4}" sibTransId="{FF8A4D99-E9A2-437B-A1F1-A29CD4DF8F0A}"/>
    <dgm:cxn modelId="{FE2A86BD-3C5E-417F-B560-466A579545F3}" type="presParOf" srcId="{A87F9C23-1BBB-43B4-ADED-74CDDA577D5D}" destId="{FE7261EE-1703-4422-AAC6-0DCD1F343D39}" srcOrd="0" destOrd="0" presId="urn:microsoft.com/office/officeart/2005/8/layout/default"/>
    <dgm:cxn modelId="{88E38E93-A349-45D0-97F5-57C05D0545EC}" type="presParOf" srcId="{A87F9C23-1BBB-43B4-ADED-74CDDA577D5D}" destId="{D362DA0F-4EBF-4C9A-AC12-8ECF46B11989}" srcOrd="1" destOrd="0" presId="urn:microsoft.com/office/officeart/2005/8/layout/default"/>
    <dgm:cxn modelId="{23D7772F-C712-4BDA-B116-7EF2C7264537}" type="presParOf" srcId="{A87F9C23-1BBB-43B4-ADED-74CDDA577D5D}" destId="{704278BD-9B71-492B-B264-27865470E9A7}" srcOrd="2" destOrd="0" presId="urn:microsoft.com/office/officeart/2005/8/layout/default"/>
    <dgm:cxn modelId="{2BCE7ABC-EE31-45BF-BA17-BB157D39F5B8}" type="presParOf" srcId="{A87F9C23-1BBB-43B4-ADED-74CDDA577D5D}" destId="{ADDC1B28-7492-4F7D-984F-0CC7FD3D7632}" srcOrd="3" destOrd="0" presId="urn:microsoft.com/office/officeart/2005/8/layout/default"/>
    <dgm:cxn modelId="{9B6968D1-9CD0-4C5B-83D2-65F0C1E1DB1B}" type="presParOf" srcId="{A87F9C23-1BBB-43B4-ADED-74CDDA577D5D}" destId="{49005264-81F7-4138-BD15-606F9C443C3B}" srcOrd="4" destOrd="0" presId="urn:microsoft.com/office/officeart/2005/8/layout/default"/>
    <dgm:cxn modelId="{4A7D2C8D-EAFC-4531-A127-CD439D2648B7}" type="presParOf" srcId="{A87F9C23-1BBB-43B4-ADED-74CDDA577D5D}" destId="{C1144CA4-A0C4-41B8-A550-41D24C11802E}" srcOrd="5" destOrd="0" presId="urn:microsoft.com/office/officeart/2005/8/layout/default"/>
    <dgm:cxn modelId="{047B4B27-A9AA-4144-B763-8627535EA447}" type="presParOf" srcId="{A87F9C23-1BBB-43B4-ADED-74CDDA577D5D}" destId="{629C45EB-B332-4397-8802-FEA6BD7F9A3D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5E72C0-2B97-43BA-A69E-AA8DCA5A011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4D1C8E2-F1B0-4EBD-9CF4-6B6AAA222381}">
      <dgm:prSet/>
      <dgm:spPr/>
      <dgm:t>
        <a:bodyPr/>
        <a:lstStyle/>
        <a:p>
          <a:r>
            <a:rPr lang="en-US"/>
            <a:t>Most participants found the training clear and helpful</a:t>
          </a:r>
        </a:p>
      </dgm:t>
    </dgm:pt>
    <dgm:pt modelId="{6A428F48-8608-4A20-BA71-39C2FA7127E5}" type="parTrans" cxnId="{4D46AF95-7CD0-4A75-BB0D-4D52D201ADAF}">
      <dgm:prSet/>
      <dgm:spPr/>
      <dgm:t>
        <a:bodyPr/>
        <a:lstStyle/>
        <a:p>
          <a:endParaRPr lang="en-US"/>
        </a:p>
      </dgm:t>
    </dgm:pt>
    <dgm:pt modelId="{36818846-8935-4E83-90BB-53AE805BCBB2}" type="sibTrans" cxnId="{4D46AF95-7CD0-4A75-BB0D-4D52D201ADAF}">
      <dgm:prSet/>
      <dgm:spPr/>
      <dgm:t>
        <a:bodyPr/>
        <a:lstStyle/>
        <a:p>
          <a:endParaRPr lang="en-US"/>
        </a:p>
      </dgm:t>
    </dgm:pt>
    <dgm:pt modelId="{A8983C87-DA7F-43D3-90F6-17A0C2FA8E0E}">
      <dgm:prSet/>
      <dgm:spPr/>
      <dgm:t>
        <a:bodyPr/>
        <a:lstStyle/>
        <a:p>
          <a:r>
            <a:rPr lang="en-US"/>
            <a:t>Confidence in identifying phishing increased</a:t>
          </a:r>
        </a:p>
      </dgm:t>
    </dgm:pt>
    <dgm:pt modelId="{343B5CFE-9E79-4AC9-B5EB-7B6617110D70}" type="parTrans" cxnId="{62133042-2903-482C-96B1-2DFE97CDA94D}">
      <dgm:prSet/>
      <dgm:spPr/>
      <dgm:t>
        <a:bodyPr/>
        <a:lstStyle/>
        <a:p>
          <a:endParaRPr lang="en-US"/>
        </a:p>
      </dgm:t>
    </dgm:pt>
    <dgm:pt modelId="{3156E848-E2FB-4C09-8149-AC222DE209B9}" type="sibTrans" cxnId="{62133042-2903-482C-96B1-2DFE97CDA94D}">
      <dgm:prSet/>
      <dgm:spPr/>
      <dgm:t>
        <a:bodyPr/>
        <a:lstStyle/>
        <a:p>
          <a:endParaRPr lang="en-US"/>
        </a:p>
      </dgm:t>
    </dgm:pt>
    <dgm:pt modelId="{2CD09240-AC76-4CD7-9B7F-018B96FCD702}">
      <dgm:prSet/>
      <dgm:spPr/>
      <dgm:t>
        <a:bodyPr/>
        <a:lstStyle/>
        <a:p>
          <a:r>
            <a:rPr lang="en-US"/>
            <a:t>A few struggled with nuanced or subtle phishing cues</a:t>
          </a:r>
        </a:p>
      </dgm:t>
    </dgm:pt>
    <dgm:pt modelId="{1C860C2E-A9F9-4236-8721-79B2AD0A02D2}" type="parTrans" cxnId="{AB50A84F-FC9F-4827-9294-96CD873E3A62}">
      <dgm:prSet/>
      <dgm:spPr/>
      <dgm:t>
        <a:bodyPr/>
        <a:lstStyle/>
        <a:p>
          <a:endParaRPr lang="en-US"/>
        </a:p>
      </dgm:t>
    </dgm:pt>
    <dgm:pt modelId="{7DDA4713-C21C-4B92-99D2-6F76EEA24EF5}" type="sibTrans" cxnId="{AB50A84F-FC9F-4827-9294-96CD873E3A62}">
      <dgm:prSet/>
      <dgm:spPr/>
      <dgm:t>
        <a:bodyPr/>
        <a:lstStyle/>
        <a:p>
          <a:endParaRPr lang="en-US"/>
        </a:p>
      </dgm:t>
    </dgm:pt>
    <dgm:pt modelId="{2BB2DFD9-AC29-4698-BC38-A5E498F31995}" type="pres">
      <dgm:prSet presAssocID="{BA5E72C0-2B97-43BA-A69E-AA8DCA5A0116}" presName="root" presStyleCnt="0">
        <dgm:presLayoutVars>
          <dgm:dir/>
          <dgm:resizeHandles val="exact"/>
        </dgm:presLayoutVars>
      </dgm:prSet>
      <dgm:spPr/>
    </dgm:pt>
    <dgm:pt modelId="{C6FBFC43-BDD8-450A-827D-1A8151FBA715}" type="pres">
      <dgm:prSet presAssocID="{44D1C8E2-F1B0-4EBD-9CF4-6B6AAA222381}" presName="compNode" presStyleCnt="0"/>
      <dgm:spPr/>
    </dgm:pt>
    <dgm:pt modelId="{EAC67331-C5C5-4555-9C21-1CED21DF098F}" type="pres">
      <dgm:prSet presAssocID="{44D1C8E2-F1B0-4EBD-9CF4-6B6AAA222381}" presName="bgRect" presStyleLbl="bgShp" presStyleIdx="0" presStyleCnt="3"/>
      <dgm:spPr/>
    </dgm:pt>
    <dgm:pt modelId="{B888ABDF-7C57-4316-969A-438084D8165F}" type="pres">
      <dgm:prSet presAssocID="{44D1C8E2-F1B0-4EBD-9CF4-6B6AAA22238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848D273-EC40-44E1-B5D4-1622D14FA646}" type="pres">
      <dgm:prSet presAssocID="{44D1C8E2-F1B0-4EBD-9CF4-6B6AAA222381}" presName="spaceRect" presStyleCnt="0"/>
      <dgm:spPr/>
    </dgm:pt>
    <dgm:pt modelId="{442C271A-ED35-40D9-9F71-E2FCCF7C5753}" type="pres">
      <dgm:prSet presAssocID="{44D1C8E2-F1B0-4EBD-9CF4-6B6AAA222381}" presName="parTx" presStyleLbl="revTx" presStyleIdx="0" presStyleCnt="3">
        <dgm:presLayoutVars>
          <dgm:chMax val="0"/>
          <dgm:chPref val="0"/>
        </dgm:presLayoutVars>
      </dgm:prSet>
      <dgm:spPr/>
    </dgm:pt>
    <dgm:pt modelId="{37C5B514-9208-4F65-9A3C-86541F10B6FF}" type="pres">
      <dgm:prSet presAssocID="{36818846-8935-4E83-90BB-53AE805BCBB2}" presName="sibTrans" presStyleCnt="0"/>
      <dgm:spPr/>
    </dgm:pt>
    <dgm:pt modelId="{5ADB44F1-1EC1-4CE5-A7CC-5214CB58BFCB}" type="pres">
      <dgm:prSet presAssocID="{A8983C87-DA7F-43D3-90F6-17A0C2FA8E0E}" presName="compNode" presStyleCnt="0"/>
      <dgm:spPr/>
    </dgm:pt>
    <dgm:pt modelId="{89F5E689-61BE-4F6F-9A50-7C0DF5DC8241}" type="pres">
      <dgm:prSet presAssocID="{A8983C87-DA7F-43D3-90F6-17A0C2FA8E0E}" presName="bgRect" presStyleLbl="bgShp" presStyleIdx="1" presStyleCnt="3"/>
      <dgm:spPr/>
    </dgm:pt>
    <dgm:pt modelId="{314AF09F-8E01-4072-A3FC-544B440BE664}" type="pres">
      <dgm:prSet presAssocID="{A8983C87-DA7F-43D3-90F6-17A0C2FA8E0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07061BE-C759-47B5-BBDB-7D7318044D5C}" type="pres">
      <dgm:prSet presAssocID="{A8983C87-DA7F-43D3-90F6-17A0C2FA8E0E}" presName="spaceRect" presStyleCnt="0"/>
      <dgm:spPr/>
    </dgm:pt>
    <dgm:pt modelId="{A58D2331-25CF-4B39-B0E6-258A5FBCD8DE}" type="pres">
      <dgm:prSet presAssocID="{A8983C87-DA7F-43D3-90F6-17A0C2FA8E0E}" presName="parTx" presStyleLbl="revTx" presStyleIdx="1" presStyleCnt="3">
        <dgm:presLayoutVars>
          <dgm:chMax val="0"/>
          <dgm:chPref val="0"/>
        </dgm:presLayoutVars>
      </dgm:prSet>
      <dgm:spPr/>
    </dgm:pt>
    <dgm:pt modelId="{DD47759E-5770-49B4-99A6-6FF16D715F2E}" type="pres">
      <dgm:prSet presAssocID="{3156E848-E2FB-4C09-8149-AC222DE209B9}" presName="sibTrans" presStyleCnt="0"/>
      <dgm:spPr/>
    </dgm:pt>
    <dgm:pt modelId="{05A21845-7018-4DD5-9F15-E97A2D06D3A1}" type="pres">
      <dgm:prSet presAssocID="{2CD09240-AC76-4CD7-9B7F-018B96FCD702}" presName="compNode" presStyleCnt="0"/>
      <dgm:spPr/>
    </dgm:pt>
    <dgm:pt modelId="{B91CF42E-2C14-49C5-8AAA-E7BE41ECB68B}" type="pres">
      <dgm:prSet presAssocID="{2CD09240-AC76-4CD7-9B7F-018B96FCD702}" presName="bgRect" presStyleLbl="bgShp" presStyleIdx="2" presStyleCnt="3"/>
      <dgm:spPr/>
    </dgm:pt>
    <dgm:pt modelId="{FE8BDCF6-93E0-4758-B24F-A7130577DE83}" type="pres">
      <dgm:prSet presAssocID="{2CD09240-AC76-4CD7-9B7F-018B96FCD70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B45EC32-C7CD-40EA-AE5D-B3DBF4B2FFF7}" type="pres">
      <dgm:prSet presAssocID="{2CD09240-AC76-4CD7-9B7F-018B96FCD702}" presName="spaceRect" presStyleCnt="0"/>
      <dgm:spPr/>
    </dgm:pt>
    <dgm:pt modelId="{16944746-747C-455E-BCBD-D5BFB11D7612}" type="pres">
      <dgm:prSet presAssocID="{2CD09240-AC76-4CD7-9B7F-018B96FCD70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2133042-2903-482C-96B1-2DFE97CDA94D}" srcId="{BA5E72C0-2B97-43BA-A69E-AA8DCA5A0116}" destId="{A8983C87-DA7F-43D3-90F6-17A0C2FA8E0E}" srcOrd="1" destOrd="0" parTransId="{343B5CFE-9E79-4AC9-B5EB-7B6617110D70}" sibTransId="{3156E848-E2FB-4C09-8149-AC222DE209B9}"/>
    <dgm:cxn modelId="{E8C0174C-CF67-4FDB-95CD-5665030030BC}" type="presOf" srcId="{44D1C8E2-F1B0-4EBD-9CF4-6B6AAA222381}" destId="{442C271A-ED35-40D9-9F71-E2FCCF7C5753}" srcOrd="0" destOrd="0" presId="urn:microsoft.com/office/officeart/2018/2/layout/IconVerticalSolidList"/>
    <dgm:cxn modelId="{AB50A84F-FC9F-4827-9294-96CD873E3A62}" srcId="{BA5E72C0-2B97-43BA-A69E-AA8DCA5A0116}" destId="{2CD09240-AC76-4CD7-9B7F-018B96FCD702}" srcOrd="2" destOrd="0" parTransId="{1C860C2E-A9F9-4236-8721-79B2AD0A02D2}" sibTransId="{7DDA4713-C21C-4B92-99D2-6F76EEA24EF5}"/>
    <dgm:cxn modelId="{7F93A28A-39D0-461F-93B5-B5B5EE56D94B}" type="presOf" srcId="{A8983C87-DA7F-43D3-90F6-17A0C2FA8E0E}" destId="{A58D2331-25CF-4B39-B0E6-258A5FBCD8DE}" srcOrd="0" destOrd="0" presId="urn:microsoft.com/office/officeart/2018/2/layout/IconVerticalSolidList"/>
    <dgm:cxn modelId="{4D46AF95-7CD0-4A75-BB0D-4D52D201ADAF}" srcId="{BA5E72C0-2B97-43BA-A69E-AA8DCA5A0116}" destId="{44D1C8E2-F1B0-4EBD-9CF4-6B6AAA222381}" srcOrd="0" destOrd="0" parTransId="{6A428F48-8608-4A20-BA71-39C2FA7127E5}" sibTransId="{36818846-8935-4E83-90BB-53AE805BCBB2}"/>
    <dgm:cxn modelId="{F793B7B4-3831-48FE-ACB2-B5F9BC70C696}" type="presOf" srcId="{2CD09240-AC76-4CD7-9B7F-018B96FCD702}" destId="{16944746-747C-455E-BCBD-D5BFB11D7612}" srcOrd="0" destOrd="0" presId="urn:microsoft.com/office/officeart/2018/2/layout/IconVerticalSolidList"/>
    <dgm:cxn modelId="{68C5DAB6-020E-43BF-AB13-01A058D8F9A1}" type="presOf" srcId="{BA5E72C0-2B97-43BA-A69E-AA8DCA5A0116}" destId="{2BB2DFD9-AC29-4698-BC38-A5E498F31995}" srcOrd="0" destOrd="0" presId="urn:microsoft.com/office/officeart/2018/2/layout/IconVerticalSolidList"/>
    <dgm:cxn modelId="{7AFCF1FE-BA75-41B0-B91A-577C086FD254}" type="presParOf" srcId="{2BB2DFD9-AC29-4698-BC38-A5E498F31995}" destId="{C6FBFC43-BDD8-450A-827D-1A8151FBA715}" srcOrd="0" destOrd="0" presId="urn:microsoft.com/office/officeart/2018/2/layout/IconVerticalSolidList"/>
    <dgm:cxn modelId="{E2F17BAA-AF0E-4FDD-9B94-6A8CE09F0466}" type="presParOf" srcId="{C6FBFC43-BDD8-450A-827D-1A8151FBA715}" destId="{EAC67331-C5C5-4555-9C21-1CED21DF098F}" srcOrd="0" destOrd="0" presId="urn:microsoft.com/office/officeart/2018/2/layout/IconVerticalSolidList"/>
    <dgm:cxn modelId="{9E9A5830-D7B1-4106-AF59-053E03E05D54}" type="presParOf" srcId="{C6FBFC43-BDD8-450A-827D-1A8151FBA715}" destId="{B888ABDF-7C57-4316-969A-438084D8165F}" srcOrd="1" destOrd="0" presId="urn:microsoft.com/office/officeart/2018/2/layout/IconVerticalSolidList"/>
    <dgm:cxn modelId="{FAAC8C12-6C9B-47FF-9A1F-9AA29AE52EB8}" type="presParOf" srcId="{C6FBFC43-BDD8-450A-827D-1A8151FBA715}" destId="{A848D273-EC40-44E1-B5D4-1622D14FA646}" srcOrd="2" destOrd="0" presId="urn:microsoft.com/office/officeart/2018/2/layout/IconVerticalSolidList"/>
    <dgm:cxn modelId="{D77E0A8A-36E9-4054-BA3B-4C5CE8FFC048}" type="presParOf" srcId="{C6FBFC43-BDD8-450A-827D-1A8151FBA715}" destId="{442C271A-ED35-40D9-9F71-E2FCCF7C5753}" srcOrd="3" destOrd="0" presId="urn:microsoft.com/office/officeart/2018/2/layout/IconVerticalSolidList"/>
    <dgm:cxn modelId="{4B2F22E1-958F-45F2-B449-5DCD7E5A5747}" type="presParOf" srcId="{2BB2DFD9-AC29-4698-BC38-A5E498F31995}" destId="{37C5B514-9208-4F65-9A3C-86541F10B6FF}" srcOrd="1" destOrd="0" presId="urn:microsoft.com/office/officeart/2018/2/layout/IconVerticalSolidList"/>
    <dgm:cxn modelId="{EAB75B54-2374-4C54-82C1-FC2040F8645E}" type="presParOf" srcId="{2BB2DFD9-AC29-4698-BC38-A5E498F31995}" destId="{5ADB44F1-1EC1-4CE5-A7CC-5214CB58BFCB}" srcOrd="2" destOrd="0" presId="urn:microsoft.com/office/officeart/2018/2/layout/IconVerticalSolidList"/>
    <dgm:cxn modelId="{B913F376-0EE8-428C-8A33-10FD2DF13307}" type="presParOf" srcId="{5ADB44F1-1EC1-4CE5-A7CC-5214CB58BFCB}" destId="{89F5E689-61BE-4F6F-9A50-7C0DF5DC8241}" srcOrd="0" destOrd="0" presId="urn:microsoft.com/office/officeart/2018/2/layout/IconVerticalSolidList"/>
    <dgm:cxn modelId="{42F1320E-4080-4596-A3E2-957A8F3FBC00}" type="presParOf" srcId="{5ADB44F1-1EC1-4CE5-A7CC-5214CB58BFCB}" destId="{314AF09F-8E01-4072-A3FC-544B440BE664}" srcOrd="1" destOrd="0" presId="urn:microsoft.com/office/officeart/2018/2/layout/IconVerticalSolidList"/>
    <dgm:cxn modelId="{706412A5-5107-4718-BB2E-4A8B961A57B5}" type="presParOf" srcId="{5ADB44F1-1EC1-4CE5-A7CC-5214CB58BFCB}" destId="{807061BE-C759-47B5-BBDB-7D7318044D5C}" srcOrd="2" destOrd="0" presId="urn:microsoft.com/office/officeart/2018/2/layout/IconVerticalSolidList"/>
    <dgm:cxn modelId="{3776AFAD-EE05-44F3-B957-4016030E74E4}" type="presParOf" srcId="{5ADB44F1-1EC1-4CE5-A7CC-5214CB58BFCB}" destId="{A58D2331-25CF-4B39-B0E6-258A5FBCD8DE}" srcOrd="3" destOrd="0" presId="urn:microsoft.com/office/officeart/2018/2/layout/IconVerticalSolidList"/>
    <dgm:cxn modelId="{A60A0EA3-C486-4FE2-8D62-6F628C074F92}" type="presParOf" srcId="{2BB2DFD9-AC29-4698-BC38-A5E498F31995}" destId="{DD47759E-5770-49B4-99A6-6FF16D715F2E}" srcOrd="3" destOrd="0" presId="urn:microsoft.com/office/officeart/2018/2/layout/IconVerticalSolidList"/>
    <dgm:cxn modelId="{7806BF2C-C5D0-4F2C-A239-67E46293DC17}" type="presParOf" srcId="{2BB2DFD9-AC29-4698-BC38-A5E498F31995}" destId="{05A21845-7018-4DD5-9F15-E97A2D06D3A1}" srcOrd="4" destOrd="0" presId="urn:microsoft.com/office/officeart/2018/2/layout/IconVerticalSolidList"/>
    <dgm:cxn modelId="{16F3F2E1-2D76-43B1-8257-225845D649F0}" type="presParOf" srcId="{05A21845-7018-4DD5-9F15-E97A2D06D3A1}" destId="{B91CF42E-2C14-49C5-8AAA-E7BE41ECB68B}" srcOrd="0" destOrd="0" presId="urn:microsoft.com/office/officeart/2018/2/layout/IconVerticalSolidList"/>
    <dgm:cxn modelId="{BAC8E77B-825F-4F67-B23B-6198A99999DF}" type="presParOf" srcId="{05A21845-7018-4DD5-9F15-E97A2D06D3A1}" destId="{FE8BDCF6-93E0-4758-B24F-A7130577DE83}" srcOrd="1" destOrd="0" presId="urn:microsoft.com/office/officeart/2018/2/layout/IconVerticalSolidList"/>
    <dgm:cxn modelId="{26747E5D-2A99-412F-A5FA-ECFBBFE8D4CF}" type="presParOf" srcId="{05A21845-7018-4DD5-9F15-E97A2D06D3A1}" destId="{AB45EC32-C7CD-40EA-AE5D-B3DBF4B2FFF7}" srcOrd="2" destOrd="0" presId="urn:microsoft.com/office/officeart/2018/2/layout/IconVerticalSolidList"/>
    <dgm:cxn modelId="{48820375-C1D9-471D-89C6-377C28D05A24}" type="presParOf" srcId="{05A21845-7018-4DD5-9F15-E97A2D06D3A1}" destId="{16944746-747C-455E-BCBD-D5BFB11D76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7BDCA8-BC96-49EC-A25F-7C798C67D00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2B3C2D-1D81-41B3-9786-E51A51B39FB9}">
      <dgm:prSet/>
      <dgm:spPr/>
      <dgm:t>
        <a:bodyPr/>
        <a:lstStyle/>
        <a:p>
          <a:r>
            <a:rPr lang="en-US"/>
            <a:t>Introduce adaptive training tailored to user performance</a:t>
          </a:r>
        </a:p>
      </dgm:t>
    </dgm:pt>
    <dgm:pt modelId="{1D855CF5-9CDE-40C8-A2A4-589097EFED7A}" type="parTrans" cxnId="{F3999BF4-A827-4547-B859-42803F38D88F}">
      <dgm:prSet/>
      <dgm:spPr/>
      <dgm:t>
        <a:bodyPr/>
        <a:lstStyle/>
        <a:p>
          <a:endParaRPr lang="en-US"/>
        </a:p>
      </dgm:t>
    </dgm:pt>
    <dgm:pt modelId="{6D2541F7-CFAC-4DB7-9F09-225524BB0C35}" type="sibTrans" cxnId="{F3999BF4-A827-4547-B859-42803F38D88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B3D8F6F9-7478-4AFC-B636-2208C376FA54}">
      <dgm:prSet/>
      <dgm:spPr/>
      <dgm:t>
        <a:bodyPr/>
        <a:lstStyle/>
        <a:p>
          <a:r>
            <a:rPr lang="en-US"/>
            <a:t>Implement long-term retention testing over months</a:t>
          </a:r>
        </a:p>
      </dgm:t>
    </dgm:pt>
    <dgm:pt modelId="{A70479EE-4518-474A-8A9E-E59BCC5297FE}" type="parTrans" cxnId="{60A08860-B264-4B92-84E1-F672C4E10C6D}">
      <dgm:prSet/>
      <dgm:spPr/>
      <dgm:t>
        <a:bodyPr/>
        <a:lstStyle/>
        <a:p>
          <a:endParaRPr lang="en-US"/>
        </a:p>
      </dgm:t>
    </dgm:pt>
    <dgm:pt modelId="{DB416332-CAF5-45FB-B96C-1EB55C604B26}" type="sibTrans" cxnId="{60A08860-B264-4B92-84E1-F672C4E10C6D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FC273FE0-1F22-4D59-88E0-64DB2B6B62A6}">
      <dgm:prSet/>
      <dgm:spPr/>
      <dgm:t>
        <a:bodyPr/>
        <a:lstStyle/>
        <a:p>
          <a:r>
            <a:rPr lang="en-US"/>
            <a:t>Include demographic profiling for personalised insight</a:t>
          </a:r>
        </a:p>
      </dgm:t>
    </dgm:pt>
    <dgm:pt modelId="{7BE72BFD-5F2D-4568-87B1-6C61363761FA}" type="parTrans" cxnId="{9102E90F-284A-43CF-A093-8FA2A4EFC6D2}">
      <dgm:prSet/>
      <dgm:spPr/>
      <dgm:t>
        <a:bodyPr/>
        <a:lstStyle/>
        <a:p>
          <a:endParaRPr lang="en-US"/>
        </a:p>
      </dgm:t>
    </dgm:pt>
    <dgm:pt modelId="{86C7DD42-15BB-4D5F-A6EA-EFADBF639AEE}" type="sibTrans" cxnId="{9102E90F-284A-43CF-A093-8FA2A4EFC6D2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42168A2-61F8-4A56-9D2B-762055609827}">
      <dgm:prSet/>
      <dgm:spPr/>
      <dgm:t>
        <a:bodyPr/>
        <a:lstStyle/>
        <a:p>
          <a:r>
            <a:rPr lang="en-US"/>
            <a:t>Expand to mobile platforms (SMS, social media phishing)</a:t>
          </a:r>
        </a:p>
      </dgm:t>
    </dgm:pt>
    <dgm:pt modelId="{752CC1C3-3B61-4A9D-87CE-CCDB601A2B00}" type="parTrans" cxnId="{1D318303-C787-4E60-AC1D-74EDC23A116C}">
      <dgm:prSet/>
      <dgm:spPr/>
      <dgm:t>
        <a:bodyPr/>
        <a:lstStyle/>
        <a:p>
          <a:endParaRPr lang="en-US"/>
        </a:p>
      </dgm:t>
    </dgm:pt>
    <dgm:pt modelId="{5688299C-E566-47C6-BAB9-232DF5A9726D}" type="sibTrans" cxnId="{1D318303-C787-4E60-AC1D-74EDC23A116C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AA4D4628-B8A9-4C21-BC31-AF69052CB409}" type="pres">
      <dgm:prSet presAssocID="{5D7BDCA8-BC96-49EC-A25F-7C798C67D004}" presName="Name0" presStyleCnt="0">
        <dgm:presLayoutVars>
          <dgm:animLvl val="lvl"/>
          <dgm:resizeHandles val="exact"/>
        </dgm:presLayoutVars>
      </dgm:prSet>
      <dgm:spPr/>
    </dgm:pt>
    <dgm:pt modelId="{6E179855-F625-420A-926A-7D1C1DBA5F1B}" type="pres">
      <dgm:prSet presAssocID="{092B3C2D-1D81-41B3-9786-E51A51B39FB9}" presName="compositeNode" presStyleCnt="0">
        <dgm:presLayoutVars>
          <dgm:bulletEnabled val="1"/>
        </dgm:presLayoutVars>
      </dgm:prSet>
      <dgm:spPr/>
    </dgm:pt>
    <dgm:pt modelId="{DF48B7BA-52E9-4917-A70D-1139DA8C9357}" type="pres">
      <dgm:prSet presAssocID="{092B3C2D-1D81-41B3-9786-E51A51B39FB9}" presName="bgRect" presStyleLbl="alignNode1" presStyleIdx="0" presStyleCnt="4"/>
      <dgm:spPr/>
    </dgm:pt>
    <dgm:pt modelId="{63D12EA7-9925-471E-8584-BCC0399F1CDD}" type="pres">
      <dgm:prSet presAssocID="{6D2541F7-CFAC-4DB7-9F09-225524BB0C35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17F50764-EA6F-44C2-AC89-5C382FD8522C}" type="pres">
      <dgm:prSet presAssocID="{092B3C2D-1D81-41B3-9786-E51A51B39FB9}" presName="nodeRect" presStyleLbl="alignNode1" presStyleIdx="0" presStyleCnt="4">
        <dgm:presLayoutVars>
          <dgm:bulletEnabled val="1"/>
        </dgm:presLayoutVars>
      </dgm:prSet>
      <dgm:spPr/>
    </dgm:pt>
    <dgm:pt modelId="{D38EE035-BC31-4B33-8DC6-78D35D8B685F}" type="pres">
      <dgm:prSet presAssocID="{6D2541F7-CFAC-4DB7-9F09-225524BB0C35}" presName="sibTrans" presStyleCnt="0"/>
      <dgm:spPr/>
    </dgm:pt>
    <dgm:pt modelId="{B33DA606-7C10-4CFF-861A-B8D231FCD8DC}" type="pres">
      <dgm:prSet presAssocID="{B3D8F6F9-7478-4AFC-B636-2208C376FA54}" presName="compositeNode" presStyleCnt="0">
        <dgm:presLayoutVars>
          <dgm:bulletEnabled val="1"/>
        </dgm:presLayoutVars>
      </dgm:prSet>
      <dgm:spPr/>
    </dgm:pt>
    <dgm:pt modelId="{16F52B3A-24A5-45DF-9DFC-C3FC9B12570D}" type="pres">
      <dgm:prSet presAssocID="{B3D8F6F9-7478-4AFC-B636-2208C376FA54}" presName="bgRect" presStyleLbl="alignNode1" presStyleIdx="1" presStyleCnt="4"/>
      <dgm:spPr/>
    </dgm:pt>
    <dgm:pt modelId="{E6C1420F-3C97-4E72-A287-6104D9F66308}" type="pres">
      <dgm:prSet presAssocID="{DB416332-CAF5-45FB-B96C-1EB55C604B26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B7334AB2-1215-4F9E-ACB2-5FB5F4421420}" type="pres">
      <dgm:prSet presAssocID="{B3D8F6F9-7478-4AFC-B636-2208C376FA54}" presName="nodeRect" presStyleLbl="alignNode1" presStyleIdx="1" presStyleCnt="4">
        <dgm:presLayoutVars>
          <dgm:bulletEnabled val="1"/>
        </dgm:presLayoutVars>
      </dgm:prSet>
      <dgm:spPr/>
    </dgm:pt>
    <dgm:pt modelId="{0F9D615A-348D-43AC-BCD6-EEE74B6AEC58}" type="pres">
      <dgm:prSet presAssocID="{DB416332-CAF5-45FB-B96C-1EB55C604B26}" presName="sibTrans" presStyleCnt="0"/>
      <dgm:spPr/>
    </dgm:pt>
    <dgm:pt modelId="{648CD8B2-C78C-4F78-9E6B-B5C18EE4EBED}" type="pres">
      <dgm:prSet presAssocID="{FC273FE0-1F22-4D59-88E0-64DB2B6B62A6}" presName="compositeNode" presStyleCnt="0">
        <dgm:presLayoutVars>
          <dgm:bulletEnabled val="1"/>
        </dgm:presLayoutVars>
      </dgm:prSet>
      <dgm:spPr/>
    </dgm:pt>
    <dgm:pt modelId="{1B936FA8-772D-4B8B-802A-9014D741E2D0}" type="pres">
      <dgm:prSet presAssocID="{FC273FE0-1F22-4D59-88E0-64DB2B6B62A6}" presName="bgRect" presStyleLbl="alignNode1" presStyleIdx="2" presStyleCnt="4"/>
      <dgm:spPr/>
    </dgm:pt>
    <dgm:pt modelId="{B77D3851-FCB9-4366-8786-D11D99BF1071}" type="pres">
      <dgm:prSet presAssocID="{86C7DD42-15BB-4D5F-A6EA-EFADBF639AEE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DC2ACDF5-5BCE-4289-8969-C4C5A43E7921}" type="pres">
      <dgm:prSet presAssocID="{FC273FE0-1F22-4D59-88E0-64DB2B6B62A6}" presName="nodeRect" presStyleLbl="alignNode1" presStyleIdx="2" presStyleCnt="4">
        <dgm:presLayoutVars>
          <dgm:bulletEnabled val="1"/>
        </dgm:presLayoutVars>
      </dgm:prSet>
      <dgm:spPr/>
    </dgm:pt>
    <dgm:pt modelId="{F0D223AC-B8FB-4EF8-9075-888C3C12ABAB}" type="pres">
      <dgm:prSet presAssocID="{86C7DD42-15BB-4D5F-A6EA-EFADBF639AEE}" presName="sibTrans" presStyleCnt="0"/>
      <dgm:spPr/>
    </dgm:pt>
    <dgm:pt modelId="{3A22A32F-79FA-41BB-AADD-6A6048CC8ED9}" type="pres">
      <dgm:prSet presAssocID="{942168A2-61F8-4A56-9D2B-762055609827}" presName="compositeNode" presStyleCnt="0">
        <dgm:presLayoutVars>
          <dgm:bulletEnabled val="1"/>
        </dgm:presLayoutVars>
      </dgm:prSet>
      <dgm:spPr/>
    </dgm:pt>
    <dgm:pt modelId="{310246B8-28C8-41E7-9ADF-2B49784A2A6F}" type="pres">
      <dgm:prSet presAssocID="{942168A2-61F8-4A56-9D2B-762055609827}" presName="bgRect" presStyleLbl="alignNode1" presStyleIdx="3" presStyleCnt="4"/>
      <dgm:spPr/>
    </dgm:pt>
    <dgm:pt modelId="{D71AF84F-1760-48FE-9E83-49035D861B1F}" type="pres">
      <dgm:prSet presAssocID="{5688299C-E566-47C6-BAB9-232DF5A9726D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D1F06AD3-40AC-4793-B8AC-E395EDD0A41F}" type="pres">
      <dgm:prSet presAssocID="{942168A2-61F8-4A56-9D2B-762055609827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98377D01-E91C-4D9A-AA8A-E17E316A51A7}" type="presOf" srcId="{DB416332-CAF5-45FB-B96C-1EB55C604B26}" destId="{E6C1420F-3C97-4E72-A287-6104D9F66308}" srcOrd="0" destOrd="0" presId="urn:microsoft.com/office/officeart/2016/7/layout/LinearBlockProcessNumbered"/>
    <dgm:cxn modelId="{1D318303-C787-4E60-AC1D-74EDC23A116C}" srcId="{5D7BDCA8-BC96-49EC-A25F-7C798C67D004}" destId="{942168A2-61F8-4A56-9D2B-762055609827}" srcOrd="3" destOrd="0" parTransId="{752CC1C3-3B61-4A9D-87CE-CCDB601A2B00}" sibTransId="{5688299C-E566-47C6-BAB9-232DF5A9726D}"/>
    <dgm:cxn modelId="{AAFFD905-C569-4574-A623-F32A7BD8C06D}" type="presOf" srcId="{942168A2-61F8-4A56-9D2B-762055609827}" destId="{310246B8-28C8-41E7-9ADF-2B49784A2A6F}" srcOrd="0" destOrd="0" presId="urn:microsoft.com/office/officeart/2016/7/layout/LinearBlockProcessNumbered"/>
    <dgm:cxn modelId="{9102E90F-284A-43CF-A093-8FA2A4EFC6D2}" srcId="{5D7BDCA8-BC96-49EC-A25F-7C798C67D004}" destId="{FC273FE0-1F22-4D59-88E0-64DB2B6B62A6}" srcOrd="2" destOrd="0" parTransId="{7BE72BFD-5F2D-4568-87B1-6C61363761FA}" sibTransId="{86C7DD42-15BB-4D5F-A6EA-EFADBF639AEE}"/>
    <dgm:cxn modelId="{22494D21-C507-42C0-B842-E58548E9482A}" type="presOf" srcId="{FC273FE0-1F22-4D59-88E0-64DB2B6B62A6}" destId="{DC2ACDF5-5BCE-4289-8969-C4C5A43E7921}" srcOrd="1" destOrd="0" presId="urn:microsoft.com/office/officeart/2016/7/layout/LinearBlockProcessNumbered"/>
    <dgm:cxn modelId="{C6166530-A8BD-4714-B5AB-06E669F7C53A}" type="presOf" srcId="{B3D8F6F9-7478-4AFC-B636-2208C376FA54}" destId="{16F52B3A-24A5-45DF-9DFC-C3FC9B12570D}" srcOrd="0" destOrd="0" presId="urn:microsoft.com/office/officeart/2016/7/layout/LinearBlockProcessNumbered"/>
    <dgm:cxn modelId="{60A08860-B264-4B92-84E1-F672C4E10C6D}" srcId="{5D7BDCA8-BC96-49EC-A25F-7C798C67D004}" destId="{B3D8F6F9-7478-4AFC-B636-2208C376FA54}" srcOrd="1" destOrd="0" parTransId="{A70479EE-4518-474A-8A9E-E59BCC5297FE}" sibTransId="{DB416332-CAF5-45FB-B96C-1EB55C604B26}"/>
    <dgm:cxn modelId="{D95C7C54-F83B-4274-A443-32F8F0FC151E}" type="presOf" srcId="{092B3C2D-1D81-41B3-9786-E51A51B39FB9}" destId="{DF48B7BA-52E9-4917-A70D-1139DA8C9357}" srcOrd="0" destOrd="0" presId="urn:microsoft.com/office/officeart/2016/7/layout/LinearBlockProcessNumbered"/>
    <dgm:cxn modelId="{4C411B80-746D-4DF2-A536-32FA2C252DAB}" type="presOf" srcId="{092B3C2D-1D81-41B3-9786-E51A51B39FB9}" destId="{17F50764-EA6F-44C2-AC89-5C382FD8522C}" srcOrd="1" destOrd="0" presId="urn:microsoft.com/office/officeart/2016/7/layout/LinearBlockProcessNumbered"/>
    <dgm:cxn modelId="{C6194090-04DF-4742-8B32-EB6ECFA8D572}" type="presOf" srcId="{5688299C-E566-47C6-BAB9-232DF5A9726D}" destId="{D71AF84F-1760-48FE-9E83-49035D861B1F}" srcOrd="0" destOrd="0" presId="urn:microsoft.com/office/officeart/2016/7/layout/LinearBlockProcessNumbered"/>
    <dgm:cxn modelId="{DBD5E2A7-300E-4844-99F7-0C52AAC83CFD}" type="presOf" srcId="{86C7DD42-15BB-4D5F-A6EA-EFADBF639AEE}" destId="{B77D3851-FCB9-4366-8786-D11D99BF1071}" srcOrd="0" destOrd="0" presId="urn:microsoft.com/office/officeart/2016/7/layout/LinearBlockProcessNumbered"/>
    <dgm:cxn modelId="{24F222B4-5C0D-4C79-82CE-C70C9E71929B}" type="presOf" srcId="{6D2541F7-CFAC-4DB7-9F09-225524BB0C35}" destId="{63D12EA7-9925-471E-8584-BCC0399F1CDD}" srcOrd="0" destOrd="0" presId="urn:microsoft.com/office/officeart/2016/7/layout/LinearBlockProcessNumbered"/>
    <dgm:cxn modelId="{0542AAB6-8936-433E-B8D6-E95114A72497}" type="presOf" srcId="{FC273FE0-1F22-4D59-88E0-64DB2B6B62A6}" destId="{1B936FA8-772D-4B8B-802A-9014D741E2D0}" srcOrd="0" destOrd="0" presId="urn:microsoft.com/office/officeart/2016/7/layout/LinearBlockProcessNumbered"/>
    <dgm:cxn modelId="{B15BB0DC-0573-425A-9349-4D394CE4A004}" type="presOf" srcId="{942168A2-61F8-4A56-9D2B-762055609827}" destId="{D1F06AD3-40AC-4793-B8AC-E395EDD0A41F}" srcOrd="1" destOrd="0" presId="urn:microsoft.com/office/officeart/2016/7/layout/LinearBlockProcessNumbered"/>
    <dgm:cxn modelId="{DB0969EA-B63F-4BA8-89E2-CDDAC02AA01F}" type="presOf" srcId="{5D7BDCA8-BC96-49EC-A25F-7C798C67D004}" destId="{AA4D4628-B8A9-4C21-BC31-AF69052CB409}" srcOrd="0" destOrd="0" presId="urn:microsoft.com/office/officeart/2016/7/layout/LinearBlockProcessNumbered"/>
    <dgm:cxn modelId="{F3999BF4-A827-4547-B859-42803F38D88F}" srcId="{5D7BDCA8-BC96-49EC-A25F-7C798C67D004}" destId="{092B3C2D-1D81-41B3-9786-E51A51B39FB9}" srcOrd="0" destOrd="0" parTransId="{1D855CF5-9CDE-40C8-A2A4-589097EFED7A}" sibTransId="{6D2541F7-CFAC-4DB7-9F09-225524BB0C35}"/>
    <dgm:cxn modelId="{992EE1FD-07BB-482A-BCC7-E575B913943A}" type="presOf" srcId="{B3D8F6F9-7478-4AFC-B636-2208C376FA54}" destId="{B7334AB2-1215-4F9E-ACB2-5FB5F4421420}" srcOrd="1" destOrd="0" presId="urn:microsoft.com/office/officeart/2016/7/layout/LinearBlockProcessNumbered"/>
    <dgm:cxn modelId="{5BBF1AD5-852D-4044-B109-B7F9A8EF1AF4}" type="presParOf" srcId="{AA4D4628-B8A9-4C21-BC31-AF69052CB409}" destId="{6E179855-F625-420A-926A-7D1C1DBA5F1B}" srcOrd="0" destOrd="0" presId="urn:microsoft.com/office/officeart/2016/7/layout/LinearBlockProcessNumbered"/>
    <dgm:cxn modelId="{659E63F1-C558-4875-8E7A-BCA5D755CB93}" type="presParOf" srcId="{6E179855-F625-420A-926A-7D1C1DBA5F1B}" destId="{DF48B7BA-52E9-4917-A70D-1139DA8C9357}" srcOrd="0" destOrd="0" presId="urn:microsoft.com/office/officeart/2016/7/layout/LinearBlockProcessNumbered"/>
    <dgm:cxn modelId="{71127859-ED00-41E8-99B8-16C5944F2D02}" type="presParOf" srcId="{6E179855-F625-420A-926A-7D1C1DBA5F1B}" destId="{63D12EA7-9925-471E-8584-BCC0399F1CDD}" srcOrd="1" destOrd="0" presId="urn:microsoft.com/office/officeart/2016/7/layout/LinearBlockProcessNumbered"/>
    <dgm:cxn modelId="{E4BDACBC-A9D6-41B2-B147-2FE58920376F}" type="presParOf" srcId="{6E179855-F625-420A-926A-7D1C1DBA5F1B}" destId="{17F50764-EA6F-44C2-AC89-5C382FD8522C}" srcOrd="2" destOrd="0" presId="urn:microsoft.com/office/officeart/2016/7/layout/LinearBlockProcessNumbered"/>
    <dgm:cxn modelId="{D92212D9-87DC-457F-A2A4-D96C7B50B956}" type="presParOf" srcId="{AA4D4628-B8A9-4C21-BC31-AF69052CB409}" destId="{D38EE035-BC31-4B33-8DC6-78D35D8B685F}" srcOrd="1" destOrd="0" presId="urn:microsoft.com/office/officeart/2016/7/layout/LinearBlockProcessNumbered"/>
    <dgm:cxn modelId="{C91F4D39-D227-47CB-90F4-CE77718EABBD}" type="presParOf" srcId="{AA4D4628-B8A9-4C21-BC31-AF69052CB409}" destId="{B33DA606-7C10-4CFF-861A-B8D231FCD8DC}" srcOrd="2" destOrd="0" presId="urn:microsoft.com/office/officeart/2016/7/layout/LinearBlockProcessNumbered"/>
    <dgm:cxn modelId="{31B701C9-419B-42C4-896E-6F1C008A16A1}" type="presParOf" srcId="{B33DA606-7C10-4CFF-861A-B8D231FCD8DC}" destId="{16F52B3A-24A5-45DF-9DFC-C3FC9B12570D}" srcOrd="0" destOrd="0" presId="urn:microsoft.com/office/officeart/2016/7/layout/LinearBlockProcessNumbered"/>
    <dgm:cxn modelId="{48C24FBC-9E83-4116-A561-60F97F738860}" type="presParOf" srcId="{B33DA606-7C10-4CFF-861A-B8D231FCD8DC}" destId="{E6C1420F-3C97-4E72-A287-6104D9F66308}" srcOrd="1" destOrd="0" presId="urn:microsoft.com/office/officeart/2016/7/layout/LinearBlockProcessNumbered"/>
    <dgm:cxn modelId="{5538C6FF-74A0-45A8-835A-FCC54C523522}" type="presParOf" srcId="{B33DA606-7C10-4CFF-861A-B8D231FCD8DC}" destId="{B7334AB2-1215-4F9E-ACB2-5FB5F4421420}" srcOrd="2" destOrd="0" presId="urn:microsoft.com/office/officeart/2016/7/layout/LinearBlockProcessNumbered"/>
    <dgm:cxn modelId="{87C9ED09-B877-452D-8B03-DCE1143F1E11}" type="presParOf" srcId="{AA4D4628-B8A9-4C21-BC31-AF69052CB409}" destId="{0F9D615A-348D-43AC-BCD6-EEE74B6AEC58}" srcOrd="3" destOrd="0" presId="urn:microsoft.com/office/officeart/2016/7/layout/LinearBlockProcessNumbered"/>
    <dgm:cxn modelId="{E930EF12-B461-4DDE-9224-FE039A01D1B8}" type="presParOf" srcId="{AA4D4628-B8A9-4C21-BC31-AF69052CB409}" destId="{648CD8B2-C78C-4F78-9E6B-B5C18EE4EBED}" srcOrd="4" destOrd="0" presId="urn:microsoft.com/office/officeart/2016/7/layout/LinearBlockProcessNumbered"/>
    <dgm:cxn modelId="{870CF92F-0AD9-40D2-BC8F-97D98FD877F2}" type="presParOf" srcId="{648CD8B2-C78C-4F78-9E6B-B5C18EE4EBED}" destId="{1B936FA8-772D-4B8B-802A-9014D741E2D0}" srcOrd="0" destOrd="0" presId="urn:microsoft.com/office/officeart/2016/7/layout/LinearBlockProcessNumbered"/>
    <dgm:cxn modelId="{9B44C481-8695-4ABE-81EA-3D12C52C08B7}" type="presParOf" srcId="{648CD8B2-C78C-4F78-9E6B-B5C18EE4EBED}" destId="{B77D3851-FCB9-4366-8786-D11D99BF1071}" srcOrd="1" destOrd="0" presId="urn:microsoft.com/office/officeart/2016/7/layout/LinearBlockProcessNumbered"/>
    <dgm:cxn modelId="{E1842338-96A1-4ECD-8DD5-68C52949AC6C}" type="presParOf" srcId="{648CD8B2-C78C-4F78-9E6B-B5C18EE4EBED}" destId="{DC2ACDF5-5BCE-4289-8969-C4C5A43E7921}" srcOrd="2" destOrd="0" presId="urn:microsoft.com/office/officeart/2016/7/layout/LinearBlockProcessNumbered"/>
    <dgm:cxn modelId="{9F5B5E03-FF86-4E8D-8EB9-CD50AE8F05A4}" type="presParOf" srcId="{AA4D4628-B8A9-4C21-BC31-AF69052CB409}" destId="{F0D223AC-B8FB-4EF8-9075-888C3C12ABAB}" srcOrd="5" destOrd="0" presId="urn:microsoft.com/office/officeart/2016/7/layout/LinearBlockProcessNumbered"/>
    <dgm:cxn modelId="{AF545A6F-FEFC-442F-8D0F-CEE15E96FE1A}" type="presParOf" srcId="{AA4D4628-B8A9-4C21-BC31-AF69052CB409}" destId="{3A22A32F-79FA-41BB-AADD-6A6048CC8ED9}" srcOrd="6" destOrd="0" presId="urn:microsoft.com/office/officeart/2016/7/layout/LinearBlockProcessNumbered"/>
    <dgm:cxn modelId="{8A23B810-DEEE-4E84-82BC-9683F807F655}" type="presParOf" srcId="{3A22A32F-79FA-41BB-AADD-6A6048CC8ED9}" destId="{310246B8-28C8-41E7-9ADF-2B49784A2A6F}" srcOrd="0" destOrd="0" presId="urn:microsoft.com/office/officeart/2016/7/layout/LinearBlockProcessNumbered"/>
    <dgm:cxn modelId="{0FF940B7-C58A-4BCF-8C6A-649ADFCCF6D1}" type="presParOf" srcId="{3A22A32F-79FA-41BB-AADD-6A6048CC8ED9}" destId="{D71AF84F-1760-48FE-9E83-49035D861B1F}" srcOrd="1" destOrd="0" presId="urn:microsoft.com/office/officeart/2016/7/layout/LinearBlockProcessNumbered"/>
    <dgm:cxn modelId="{39BC3A76-7247-4114-8FD5-D9997F868C4A}" type="presParOf" srcId="{3A22A32F-79FA-41BB-AADD-6A6048CC8ED9}" destId="{D1F06AD3-40AC-4793-B8AC-E395EDD0A41F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49D00A-F621-45C2-A562-2667CB222A58}">
      <dsp:nvSpPr>
        <dsp:cNvPr id="0" name=""/>
        <dsp:cNvSpPr/>
      </dsp:nvSpPr>
      <dsp:spPr>
        <a:xfrm>
          <a:off x="1057815" y="195478"/>
          <a:ext cx="699257" cy="6992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86816-37BB-496B-8E46-70278DFEA841}">
      <dsp:nvSpPr>
        <dsp:cNvPr id="0" name=""/>
        <dsp:cNvSpPr/>
      </dsp:nvSpPr>
      <dsp:spPr>
        <a:xfrm>
          <a:off x="630491" y="1127991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73 participants with varied digital experience</a:t>
          </a:r>
          <a:endParaRPr lang="en-US" sz="1200" kern="1200"/>
        </a:p>
      </dsp:txBody>
      <dsp:txXfrm>
        <a:off x="630491" y="1127991"/>
        <a:ext cx="1553906" cy="621562"/>
      </dsp:txXfrm>
    </dsp:sp>
    <dsp:sp modelId="{2F6DC4B1-C9F6-49C7-A9F5-A94A7CFAAC95}">
      <dsp:nvSpPr>
        <dsp:cNvPr id="0" name=""/>
        <dsp:cNvSpPr/>
      </dsp:nvSpPr>
      <dsp:spPr>
        <a:xfrm>
          <a:off x="2883655" y="195478"/>
          <a:ext cx="699257" cy="6992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75963-9263-49A7-B316-163902442653}">
      <dsp:nvSpPr>
        <dsp:cNvPr id="0" name=""/>
        <dsp:cNvSpPr/>
      </dsp:nvSpPr>
      <dsp:spPr>
        <a:xfrm>
          <a:off x="2456331" y="1127991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Pre-test quiz → 5-minute training video → Post-test quiz</a:t>
          </a:r>
          <a:endParaRPr lang="en-US" sz="1200" kern="1200"/>
        </a:p>
      </dsp:txBody>
      <dsp:txXfrm>
        <a:off x="2456331" y="1127991"/>
        <a:ext cx="1553906" cy="621562"/>
      </dsp:txXfrm>
    </dsp:sp>
    <dsp:sp modelId="{B1CB2531-1D09-412D-A04F-2F2B360DDF9F}">
      <dsp:nvSpPr>
        <dsp:cNvPr id="0" name=""/>
        <dsp:cNvSpPr/>
      </dsp:nvSpPr>
      <dsp:spPr>
        <a:xfrm>
          <a:off x="1970735" y="2138030"/>
          <a:ext cx="699257" cy="6992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458AA-9A7C-44EE-B7B4-80C6A4F28837}">
      <dsp:nvSpPr>
        <dsp:cNvPr id="0" name=""/>
        <dsp:cNvSpPr/>
      </dsp:nvSpPr>
      <dsp:spPr>
        <a:xfrm>
          <a:off x="1543411" y="3070543"/>
          <a:ext cx="1553906" cy="621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Confidence measured via Likert-scale surveys</a:t>
          </a:r>
          <a:endParaRPr lang="en-US" sz="1200" kern="1200"/>
        </a:p>
      </dsp:txBody>
      <dsp:txXfrm>
        <a:off x="1543411" y="3070543"/>
        <a:ext cx="1553906" cy="6215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261EE-1703-4422-AAC6-0DCD1F343D39}">
      <dsp:nvSpPr>
        <dsp:cNvPr id="0" name=""/>
        <dsp:cNvSpPr/>
      </dsp:nvSpPr>
      <dsp:spPr>
        <a:xfrm>
          <a:off x="566" y="507727"/>
          <a:ext cx="2209331" cy="132559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5-minute training video on phishing detection</a:t>
          </a:r>
          <a:endParaRPr lang="en-US" sz="2000" kern="1200"/>
        </a:p>
      </dsp:txBody>
      <dsp:txXfrm>
        <a:off x="566" y="507727"/>
        <a:ext cx="2209331" cy="1325598"/>
      </dsp:txXfrm>
    </dsp:sp>
    <dsp:sp modelId="{704278BD-9B71-492B-B264-27865470E9A7}">
      <dsp:nvSpPr>
        <dsp:cNvPr id="0" name=""/>
        <dsp:cNvSpPr/>
      </dsp:nvSpPr>
      <dsp:spPr>
        <a:xfrm>
          <a:off x="2430831" y="507727"/>
          <a:ext cx="2209331" cy="132559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Covered emotional manipulation &amp; red flag indicators</a:t>
          </a:r>
          <a:endParaRPr lang="en-US" sz="2000" kern="1200"/>
        </a:p>
      </dsp:txBody>
      <dsp:txXfrm>
        <a:off x="2430831" y="507727"/>
        <a:ext cx="2209331" cy="1325598"/>
      </dsp:txXfrm>
    </dsp:sp>
    <dsp:sp modelId="{49005264-81F7-4138-BD15-606F9C443C3B}">
      <dsp:nvSpPr>
        <dsp:cNvPr id="0" name=""/>
        <dsp:cNvSpPr/>
      </dsp:nvSpPr>
      <dsp:spPr>
        <a:xfrm>
          <a:off x="566" y="2054259"/>
          <a:ext cx="2209331" cy="132559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Detection checklist integrated into the video</a:t>
          </a:r>
          <a:endParaRPr lang="en-US" sz="2000" kern="1200"/>
        </a:p>
      </dsp:txBody>
      <dsp:txXfrm>
        <a:off x="566" y="2054259"/>
        <a:ext cx="2209331" cy="1325598"/>
      </dsp:txXfrm>
    </dsp:sp>
    <dsp:sp modelId="{629C45EB-B332-4397-8802-FEA6BD7F9A3D}">
      <dsp:nvSpPr>
        <dsp:cNvPr id="0" name=""/>
        <dsp:cNvSpPr/>
      </dsp:nvSpPr>
      <dsp:spPr>
        <a:xfrm>
          <a:off x="2430831" y="2054259"/>
          <a:ext cx="2209331" cy="132559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Leaderboard and certificates used for motivation</a:t>
          </a:r>
          <a:endParaRPr lang="en-US" sz="2000" kern="1200"/>
        </a:p>
      </dsp:txBody>
      <dsp:txXfrm>
        <a:off x="2430831" y="2054259"/>
        <a:ext cx="2209331" cy="13255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67331-C5C5-4555-9C21-1CED21DF098F}">
      <dsp:nvSpPr>
        <dsp:cNvPr id="0" name=""/>
        <dsp:cNvSpPr/>
      </dsp:nvSpPr>
      <dsp:spPr>
        <a:xfrm>
          <a:off x="0" y="682"/>
          <a:ext cx="5944427" cy="15979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88ABDF-7C57-4316-969A-438084D8165F}">
      <dsp:nvSpPr>
        <dsp:cNvPr id="0" name=""/>
        <dsp:cNvSpPr/>
      </dsp:nvSpPr>
      <dsp:spPr>
        <a:xfrm>
          <a:off x="483369" y="360214"/>
          <a:ext cx="878853" cy="8788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C271A-ED35-40D9-9F71-E2FCCF7C5753}">
      <dsp:nvSpPr>
        <dsp:cNvPr id="0" name=""/>
        <dsp:cNvSpPr/>
      </dsp:nvSpPr>
      <dsp:spPr>
        <a:xfrm>
          <a:off x="1845593" y="682"/>
          <a:ext cx="4098833" cy="159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113" tIns="169113" rIns="169113" bIns="16911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Most participants found the training clear and helpful</a:t>
          </a:r>
        </a:p>
      </dsp:txBody>
      <dsp:txXfrm>
        <a:off x="1845593" y="682"/>
        <a:ext cx="4098833" cy="1597916"/>
      </dsp:txXfrm>
    </dsp:sp>
    <dsp:sp modelId="{89F5E689-61BE-4F6F-9A50-7C0DF5DC8241}">
      <dsp:nvSpPr>
        <dsp:cNvPr id="0" name=""/>
        <dsp:cNvSpPr/>
      </dsp:nvSpPr>
      <dsp:spPr>
        <a:xfrm>
          <a:off x="0" y="1998078"/>
          <a:ext cx="5944427" cy="15979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4AF09F-8E01-4072-A3FC-544B440BE664}">
      <dsp:nvSpPr>
        <dsp:cNvPr id="0" name=""/>
        <dsp:cNvSpPr/>
      </dsp:nvSpPr>
      <dsp:spPr>
        <a:xfrm>
          <a:off x="483369" y="2357609"/>
          <a:ext cx="878853" cy="8788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D2331-25CF-4B39-B0E6-258A5FBCD8DE}">
      <dsp:nvSpPr>
        <dsp:cNvPr id="0" name=""/>
        <dsp:cNvSpPr/>
      </dsp:nvSpPr>
      <dsp:spPr>
        <a:xfrm>
          <a:off x="1845593" y="1998078"/>
          <a:ext cx="4098833" cy="159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113" tIns="169113" rIns="169113" bIns="16911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Confidence in identifying phishing increased</a:t>
          </a:r>
        </a:p>
      </dsp:txBody>
      <dsp:txXfrm>
        <a:off x="1845593" y="1998078"/>
        <a:ext cx="4098833" cy="1597916"/>
      </dsp:txXfrm>
    </dsp:sp>
    <dsp:sp modelId="{B91CF42E-2C14-49C5-8AAA-E7BE41ECB68B}">
      <dsp:nvSpPr>
        <dsp:cNvPr id="0" name=""/>
        <dsp:cNvSpPr/>
      </dsp:nvSpPr>
      <dsp:spPr>
        <a:xfrm>
          <a:off x="0" y="3995473"/>
          <a:ext cx="5944427" cy="15979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8BDCF6-93E0-4758-B24F-A7130577DE83}">
      <dsp:nvSpPr>
        <dsp:cNvPr id="0" name=""/>
        <dsp:cNvSpPr/>
      </dsp:nvSpPr>
      <dsp:spPr>
        <a:xfrm>
          <a:off x="483369" y="4355004"/>
          <a:ext cx="878853" cy="8788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44746-747C-455E-BCBD-D5BFB11D7612}">
      <dsp:nvSpPr>
        <dsp:cNvPr id="0" name=""/>
        <dsp:cNvSpPr/>
      </dsp:nvSpPr>
      <dsp:spPr>
        <a:xfrm>
          <a:off x="1845593" y="3995473"/>
          <a:ext cx="4098833" cy="15979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113" tIns="169113" rIns="169113" bIns="16911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 few struggled with nuanced or subtle phishing cues</a:t>
          </a:r>
        </a:p>
      </dsp:txBody>
      <dsp:txXfrm>
        <a:off x="1845593" y="3995473"/>
        <a:ext cx="4098833" cy="15979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48B7BA-52E9-4917-A70D-1139DA8C9357}">
      <dsp:nvSpPr>
        <dsp:cNvPr id="0" name=""/>
        <dsp:cNvSpPr/>
      </dsp:nvSpPr>
      <dsp:spPr>
        <a:xfrm>
          <a:off x="209" y="336974"/>
          <a:ext cx="2533324" cy="3039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36" tIns="0" rIns="25023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Introduce adaptive training tailored to user performance</a:t>
          </a:r>
        </a:p>
      </dsp:txBody>
      <dsp:txXfrm>
        <a:off x="209" y="1552970"/>
        <a:ext cx="2533324" cy="1823993"/>
      </dsp:txXfrm>
    </dsp:sp>
    <dsp:sp modelId="{63D12EA7-9925-471E-8584-BCC0399F1CDD}">
      <dsp:nvSpPr>
        <dsp:cNvPr id="0" name=""/>
        <dsp:cNvSpPr/>
      </dsp:nvSpPr>
      <dsp:spPr>
        <a:xfrm>
          <a:off x="209" y="336974"/>
          <a:ext cx="2533324" cy="121599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36" tIns="165100" rIns="250236" bIns="16510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01</a:t>
          </a:r>
        </a:p>
      </dsp:txBody>
      <dsp:txXfrm>
        <a:off x="209" y="336974"/>
        <a:ext cx="2533324" cy="1215995"/>
      </dsp:txXfrm>
    </dsp:sp>
    <dsp:sp modelId="{16F52B3A-24A5-45DF-9DFC-C3FC9B12570D}">
      <dsp:nvSpPr>
        <dsp:cNvPr id="0" name=""/>
        <dsp:cNvSpPr/>
      </dsp:nvSpPr>
      <dsp:spPr>
        <a:xfrm>
          <a:off x="2736199" y="336974"/>
          <a:ext cx="2533324" cy="3039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36" tIns="0" rIns="25023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 long-term retention testing over months</a:t>
          </a:r>
        </a:p>
      </dsp:txBody>
      <dsp:txXfrm>
        <a:off x="2736199" y="1552970"/>
        <a:ext cx="2533324" cy="1823993"/>
      </dsp:txXfrm>
    </dsp:sp>
    <dsp:sp modelId="{E6C1420F-3C97-4E72-A287-6104D9F66308}">
      <dsp:nvSpPr>
        <dsp:cNvPr id="0" name=""/>
        <dsp:cNvSpPr/>
      </dsp:nvSpPr>
      <dsp:spPr>
        <a:xfrm>
          <a:off x="2736199" y="336974"/>
          <a:ext cx="2533324" cy="121599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36" tIns="165100" rIns="250236" bIns="16510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02</a:t>
          </a:r>
        </a:p>
      </dsp:txBody>
      <dsp:txXfrm>
        <a:off x="2736199" y="336974"/>
        <a:ext cx="2533324" cy="1215995"/>
      </dsp:txXfrm>
    </dsp:sp>
    <dsp:sp modelId="{1B936FA8-772D-4B8B-802A-9014D741E2D0}">
      <dsp:nvSpPr>
        <dsp:cNvPr id="0" name=""/>
        <dsp:cNvSpPr/>
      </dsp:nvSpPr>
      <dsp:spPr>
        <a:xfrm>
          <a:off x="5472189" y="336974"/>
          <a:ext cx="2533324" cy="3039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36" tIns="0" rIns="25023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Include demographic profiling for personalised insight</a:t>
          </a:r>
        </a:p>
      </dsp:txBody>
      <dsp:txXfrm>
        <a:off x="5472189" y="1552970"/>
        <a:ext cx="2533324" cy="1823993"/>
      </dsp:txXfrm>
    </dsp:sp>
    <dsp:sp modelId="{B77D3851-FCB9-4366-8786-D11D99BF1071}">
      <dsp:nvSpPr>
        <dsp:cNvPr id="0" name=""/>
        <dsp:cNvSpPr/>
      </dsp:nvSpPr>
      <dsp:spPr>
        <a:xfrm>
          <a:off x="5472189" y="336974"/>
          <a:ext cx="2533324" cy="121599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36" tIns="165100" rIns="250236" bIns="16510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03</a:t>
          </a:r>
        </a:p>
      </dsp:txBody>
      <dsp:txXfrm>
        <a:off x="5472189" y="336974"/>
        <a:ext cx="2533324" cy="1215995"/>
      </dsp:txXfrm>
    </dsp:sp>
    <dsp:sp modelId="{310246B8-28C8-41E7-9ADF-2B49784A2A6F}">
      <dsp:nvSpPr>
        <dsp:cNvPr id="0" name=""/>
        <dsp:cNvSpPr/>
      </dsp:nvSpPr>
      <dsp:spPr>
        <a:xfrm>
          <a:off x="8208180" y="336974"/>
          <a:ext cx="2533324" cy="30399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36" tIns="0" rIns="250236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Expand to mobile platforms (SMS, social media phishing)</a:t>
          </a:r>
        </a:p>
      </dsp:txBody>
      <dsp:txXfrm>
        <a:off x="8208180" y="1552970"/>
        <a:ext cx="2533324" cy="1823993"/>
      </dsp:txXfrm>
    </dsp:sp>
    <dsp:sp modelId="{D71AF84F-1760-48FE-9E83-49035D861B1F}">
      <dsp:nvSpPr>
        <dsp:cNvPr id="0" name=""/>
        <dsp:cNvSpPr/>
      </dsp:nvSpPr>
      <dsp:spPr>
        <a:xfrm>
          <a:off x="8208180" y="336974"/>
          <a:ext cx="2533324" cy="121599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36" tIns="165100" rIns="250236" bIns="165100" numCol="1" spcCol="1270" anchor="ctr" anchorCtr="0">
          <a:noAutofit/>
        </a:bodyPr>
        <a:lstStyle/>
        <a:p>
          <a:pPr marL="0" lvl="0" indent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/>
            <a:t>04</a:t>
          </a:r>
        </a:p>
      </dsp:txBody>
      <dsp:txXfrm>
        <a:off x="8208180" y="336974"/>
        <a:ext cx="2533324" cy="1215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97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0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9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3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46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65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51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02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2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4/10/2025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4743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0" r:id="rId6"/>
    <p:sldLayoutId id="2147483705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A7971386-B2B0-4A38-8D3B-8CF23AAA6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06FDC3C5-8431-45BA-A6F9-CFFCB567E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375F62-07E0-443B-9C48-A98235932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39089" y="-3532"/>
            <a:ext cx="4449863" cy="6861532"/>
            <a:chOff x="7739089" y="-3532"/>
            <a:chExt cx="4449863" cy="686153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AD3DE53-A5DD-4681-A623-D2ABA4F58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5951" y="1365822"/>
              <a:ext cx="819954" cy="995873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1">
                  <a:lumMod val="75000"/>
                </a:schemeClr>
              </a:fgClr>
              <a:bgClr>
                <a:schemeClr val="accent1">
                  <a:lumMod val="5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180B35-C330-4CE0-8539-329851544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07984" y="4121414"/>
              <a:ext cx="514757" cy="51694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F4DE9E-8700-47A1-B979-37CF4E27F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4837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DA72DB4-0020-442C-A0F9-7320837E1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627" y="340461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tx2">
                  <a:lumMod val="75000"/>
                  <a:lumOff val="25000"/>
                </a:schemeClr>
              </a:fgClr>
              <a:bgClr>
                <a:schemeClr val="accent1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BC11E757-F50F-4F18-9F0D-6DF406191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39089" y="-3532"/>
              <a:ext cx="3875603" cy="3875603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  <a:alpha val="20000"/>
              </a:schemeClr>
            </a:solidFill>
            <a:ln w="2095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E8A144E7-745C-4BEF-AE3D-D714ABF11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5862" y="556562"/>
              <a:ext cx="2681635" cy="268163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AE4696B9-5372-4006-B954-F44B5BDAA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55227" y="17974"/>
              <a:ext cx="3875605" cy="3875603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solidFill>
                <a:srgbClr val="F7F7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exture">
            <a:extLst>
              <a:ext uri="{FF2B5EF4-FFF2-40B4-BE49-F238E27FC236}">
                <a16:creationId xmlns:a16="http://schemas.microsoft.com/office/drawing/2014/main" id="{0D29D77D-2D4E-4868-960B-BEDA724F5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676656"/>
            <a:ext cx="6953436" cy="3063240"/>
          </a:xfrm>
        </p:spPr>
        <p:txBody>
          <a:bodyPr>
            <a:normAutofit/>
          </a:bodyPr>
          <a:lstStyle/>
          <a:p>
            <a:r>
              <a:rPr lang="en-GB" sz="4600"/>
              <a:t>Investigating Cyber Psychology in the Context of User Behaviour and Email-Based Malware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97348"/>
            <a:ext cx="6953436" cy="2258977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Char char="•"/>
            </a:pPr>
            <a:r>
              <a:rPr lang="en-GB" dirty="0"/>
              <a:t>Student: Mohamud Elmi</a:t>
            </a:r>
          </a:p>
          <a:p>
            <a:pPr marL="342900" indent="-342900">
              <a:buChar char="•"/>
            </a:pPr>
            <a:r>
              <a:rPr lang="en-GB" dirty="0"/>
              <a:t>Supervisor: Razi Arshad</a:t>
            </a:r>
          </a:p>
          <a:p>
            <a:pPr marL="342900" indent="-342900">
              <a:buChar char="•"/>
            </a:pPr>
            <a:r>
              <a:rPr lang="en-GB" dirty="0"/>
              <a:t>Date: 10 April 2025</a:t>
            </a:r>
          </a:p>
          <a:p>
            <a:pPr marL="342900" indent="-342900">
              <a:buChar char="•"/>
            </a:pPr>
            <a:endParaRPr lang="en-GB" dirty="0"/>
          </a:p>
        </p:txBody>
      </p:sp>
      <p:pic>
        <p:nvPicPr>
          <p:cNvPr id="4" name="Picture 3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907B556A-87C7-0955-97AD-3F41666BD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038" y="628650"/>
            <a:ext cx="2620498" cy="262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olor Fill">
            <a:extLst>
              <a:ext uri="{FF2B5EF4-FFF2-40B4-BE49-F238E27FC236}">
                <a16:creationId xmlns:a16="http://schemas.microsoft.com/office/drawing/2014/main" id="{BA44E6CA-03F3-47EA-A9F3-5C0674E28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F12AF72-0A2D-40D4-A252-24C87E05D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34870" y="0"/>
            <a:ext cx="4257130" cy="6858000"/>
            <a:chOff x="7934870" y="0"/>
            <a:chExt cx="4257130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88A98EA-9E50-4276-960F-ECEAF7766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548949" y="5077229"/>
              <a:ext cx="2643051" cy="1780771"/>
            </a:xfrm>
            <a:custGeom>
              <a:avLst/>
              <a:gdLst>
                <a:gd name="connsiteX0" fmla="*/ 688454 w 2606118"/>
                <a:gd name="connsiteY0" fmla="*/ 45 h 1780771"/>
                <a:gd name="connsiteX1" fmla="*/ 2185726 w 2606118"/>
                <a:gd name="connsiteY1" fmla="*/ 493214 h 1780771"/>
                <a:gd name="connsiteX2" fmla="*/ 2604211 w 2606118"/>
                <a:gd name="connsiteY2" fmla="*/ 1304250 h 1780771"/>
                <a:gd name="connsiteX3" fmla="*/ 2606118 w 2606118"/>
                <a:gd name="connsiteY3" fmla="*/ 1313978 h 1780771"/>
                <a:gd name="connsiteX4" fmla="*/ 2606118 w 2606118"/>
                <a:gd name="connsiteY4" fmla="*/ 1780771 h 1780771"/>
                <a:gd name="connsiteX5" fmla="*/ 215846 w 2606118"/>
                <a:gd name="connsiteY5" fmla="*/ 1780771 h 1780771"/>
                <a:gd name="connsiteX6" fmla="*/ 187787 w 2606118"/>
                <a:gd name="connsiteY6" fmla="*/ 1724104 h 1780771"/>
                <a:gd name="connsiteX7" fmla="*/ 49732 w 2606118"/>
                <a:gd name="connsiteY7" fmla="*/ 49732 h 1780771"/>
                <a:gd name="connsiteX8" fmla="*/ 688454 w 2606118"/>
                <a:gd name="connsiteY8" fmla="*/ 45 h 178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06118" h="1780771">
                  <a:moveTo>
                    <a:pt x="688454" y="45"/>
                  </a:moveTo>
                  <a:cubicBezTo>
                    <a:pt x="1159303" y="2313"/>
                    <a:pt x="1785062" y="92550"/>
                    <a:pt x="2185726" y="493214"/>
                  </a:cubicBezTo>
                  <a:cubicBezTo>
                    <a:pt x="2408317" y="715805"/>
                    <a:pt x="2535097" y="1007870"/>
                    <a:pt x="2604211" y="1304250"/>
                  </a:cubicBezTo>
                  <a:lnTo>
                    <a:pt x="2606118" y="1313978"/>
                  </a:lnTo>
                  <a:lnTo>
                    <a:pt x="2606118" y="1780771"/>
                  </a:lnTo>
                  <a:lnTo>
                    <a:pt x="215846" y="1780771"/>
                  </a:lnTo>
                  <a:lnTo>
                    <a:pt x="187787" y="1724104"/>
                  </a:lnTo>
                  <a:cubicBezTo>
                    <a:pt x="-127724" y="989597"/>
                    <a:pt x="49732" y="49732"/>
                    <a:pt x="49732" y="49732"/>
                  </a:cubicBezTo>
                  <a:cubicBezTo>
                    <a:pt x="49732" y="49732"/>
                    <a:pt x="322237" y="-1720"/>
                    <a:pt x="688454" y="4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4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B3898D6-076D-4851-882A-D47468169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60221" y="469962"/>
              <a:ext cx="528731" cy="1057462"/>
            </a:xfrm>
            <a:custGeom>
              <a:avLst/>
              <a:gdLst>
                <a:gd name="connsiteX0" fmla="*/ 528731 w 528731"/>
                <a:gd name="connsiteY0" fmla="*/ 0 h 1057462"/>
                <a:gd name="connsiteX1" fmla="*/ 528731 w 528731"/>
                <a:gd name="connsiteY1" fmla="*/ 1057462 h 1057462"/>
                <a:gd name="connsiteX2" fmla="*/ 0 w 528731"/>
                <a:gd name="connsiteY2" fmla="*/ 528731 h 1057462"/>
                <a:gd name="connsiteX3" fmla="*/ 528731 w 528731"/>
                <a:gd name="connsiteY3" fmla="*/ 0 h 105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8731" h="1057462">
                  <a:moveTo>
                    <a:pt x="528731" y="0"/>
                  </a:moveTo>
                  <a:lnTo>
                    <a:pt x="528731" y="1057462"/>
                  </a:lnTo>
                  <a:cubicBezTo>
                    <a:pt x="236721" y="1057462"/>
                    <a:pt x="0" y="820741"/>
                    <a:pt x="0" y="528731"/>
                  </a:cubicBezTo>
                  <a:cubicBezTo>
                    <a:pt x="0" y="236721"/>
                    <a:pt x="236721" y="0"/>
                    <a:pt x="528731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488EFE-4EEE-4339-8F66-31FAF34B4C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65646" y="1470520"/>
              <a:ext cx="328008" cy="328008"/>
            </a:xfrm>
            <a:prstGeom prst="ellipse">
              <a:avLst/>
            </a:pr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5C8BA76-F88E-472D-B6F3-07C1A1580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34870" y="1"/>
              <a:ext cx="3034340" cy="2483913"/>
            </a:xfrm>
            <a:custGeom>
              <a:avLst/>
              <a:gdLst>
                <a:gd name="connsiteX0" fmla="*/ 39219 w 3034340"/>
                <a:gd name="connsiteY0" fmla="*/ 0 h 2483913"/>
                <a:gd name="connsiteX1" fmla="*/ 2995122 w 3034340"/>
                <a:gd name="connsiteY1" fmla="*/ 0 h 2483913"/>
                <a:gd name="connsiteX2" fmla="*/ 3006509 w 3034340"/>
                <a:gd name="connsiteY2" fmla="*/ 46641 h 2483913"/>
                <a:gd name="connsiteX3" fmla="*/ 2589045 w 3034340"/>
                <a:gd name="connsiteY3" fmla="*/ 1412038 h 2483913"/>
                <a:gd name="connsiteX4" fmla="*/ 1517170 w 3034340"/>
                <a:gd name="connsiteY4" fmla="*/ 2483913 h 2483913"/>
                <a:gd name="connsiteX5" fmla="*/ 445296 w 3034340"/>
                <a:gd name="connsiteY5" fmla="*/ 1412038 h 2483913"/>
                <a:gd name="connsiteX6" fmla="*/ 27832 w 3034340"/>
                <a:gd name="connsiteY6" fmla="*/ 46641 h 2483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4340" h="2483913">
                  <a:moveTo>
                    <a:pt x="39219" y="0"/>
                  </a:moveTo>
                  <a:lnTo>
                    <a:pt x="2995122" y="0"/>
                  </a:lnTo>
                  <a:lnTo>
                    <a:pt x="3006509" y="46641"/>
                  </a:lnTo>
                  <a:cubicBezTo>
                    <a:pt x="3099279" y="525788"/>
                    <a:pt x="2960124" y="1040959"/>
                    <a:pt x="2589045" y="1412038"/>
                  </a:cubicBezTo>
                  <a:lnTo>
                    <a:pt x="1517170" y="2483913"/>
                  </a:lnTo>
                  <a:lnTo>
                    <a:pt x="445296" y="1412038"/>
                  </a:lnTo>
                  <a:cubicBezTo>
                    <a:pt x="74217" y="1040959"/>
                    <a:pt x="-64938" y="525788"/>
                    <a:pt x="27832" y="46641"/>
                  </a:cubicBez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32DFE1D-3FB1-4421-8E87-BA954FD23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97828" y="0"/>
              <a:ext cx="2708425" cy="2263840"/>
            </a:xfrm>
            <a:custGeom>
              <a:avLst/>
              <a:gdLst>
                <a:gd name="connsiteX0" fmla="*/ 46413 w 2708425"/>
                <a:gd name="connsiteY0" fmla="*/ 0 h 2263840"/>
                <a:gd name="connsiteX1" fmla="*/ 2662013 w 2708425"/>
                <a:gd name="connsiteY1" fmla="*/ 0 h 2263840"/>
                <a:gd name="connsiteX2" fmla="*/ 2683584 w 2708425"/>
                <a:gd name="connsiteY2" fmla="*/ 88351 h 2263840"/>
                <a:gd name="connsiteX3" fmla="*/ 2310959 w 2708425"/>
                <a:gd name="connsiteY3" fmla="*/ 1307094 h 2263840"/>
                <a:gd name="connsiteX4" fmla="*/ 1354213 w 2708425"/>
                <a:gd name="connsiteY4" fmla="*/ 2263840 h 2263840"/>
                <a:gd name="connsiteX5" fmla="*/ 397467 w 2708425"/>
                <a:gd name="connsiteY5" fmla="*/ 1307094 h 2263840"/>
                <a:gd name="connsiteX6" fmla="*/ 24842 w 2708425"/>
                <a:gd name="connsiteY6" fmla="*/ 88351 h 2263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08425" h="2263840">
                  <a:moveTo>
                    <a:pt x="46413" y="0"/>
                  </a:moveTo>
                  <a:lnTo>
                    <a:pt x="2662013" y="0"/>
                  </a:lnTo>
                  <a:lnTo>
                    <a:pt x="2683584" y="88351"/>
                  </a:lnTo>
                  <a:cubicBezTo>
                    <a:pt x="2766390" y="516035"/>
                    <a:pt x="2642182" y="975871"/>
                    <a:pt x="2310959" y="1307094"/>
                  </a:cubicBezTo>
                  <a:lnTo>
                    <a:pt x="1354213" y="2263840"/>
                  </a:lnTo>
                  <a:lnTo>
                    <a:pt x="397467" y="1307094"/>
                  </a:lnTo>
                  <a:cubicBezTo>
                    <a:pt x="66245" y="975871"/>
                    <a:pt x="-57964" y="516035"/>
                    <a:pt x="24842" y="88351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23A30-A3C9-2C06-7278-80B26C8CE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68049"/>
            <a:ext cx="5505994" cy="1325563"/>
          </a:xfrm>
        </p:spPr>
        <p:txBody>
          <a:bodyPr>
            <a:normAutofit/>
          </a:bodyPr>
          <a:lstStyle/>
          <a:p>
            <a:r>
              <a:rPr lang="en-GB" dirty="0"/>
              <a:t>Context &amp;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52D91-AA36-CCD3-6BF3-79B19D2CA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2096713"/>
            <a:ext cx="5505994" cy="40802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Phishing attacks exploit human error more than system flaws</a:t>
            </a:r>
          </a:p>
          <a:p>
            <a:r>
              <a:rPr lang="en-GB" dirty="0"/>
              <a:t>Over 930,000 phishing incidents in Q3 2024</a:t>
            </a:r>
          </a:p>
          <a:p>
            <a:r>
              <a:rPr lang="en-GB" dirty="0"/>
              <a:t>Cyberpsychology explains how attackers exploit habits, emotions and decision fatigue.</a:t>
            </a:r>
          </a:p>
        </p:txBody>
      </p:sp>
      <p:pic>
        <p:nvPicPr>
          <p:cNvPr id="4" name="Picture 3" descr="What is Spear Phishing? 6 Proven Prevention Tips - VIPRE">
            <a:extLst>
              <a:ext uri="{FF2B5EF4-FFF2-40B4-BE49-F238E27FC236}">
                <a16:creationId xmlns:a16="http://schemas.microsoft.com/office/drawing/2014/main" id="{F59A1962-9EDF-A24B-BDD0-26ED16A5A3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49" r="-1" b="12283"/>
          <a:stretch/>
        </p:blipFill>
        <p:spPr>
          <a:xfrm>
            <a:off x="6360177" y="1934966"/>
            <a:ext cx="5831823" cy="3046917"/>
          </a:xfrm>
          <a:custGeom>
            <a:avLst/>
            <a:gdLst/>
            <a:ahLst/>
            <a:cxnLst/>
            <a:rect l="l" t="t" r="r" b="b"/>
            <a:pathLst>
              <a:path w="5831823" h="3046917">
                <a:moveTo>
                  <a:pt x="4630021" y="7292"/>
                </a:moveTo>
                <a:lnTo>
                  <a:pt x="5831823" y="7292"/>
                </a:lnTo>
                <a:lnTo>
                  <a:pt x="5831823" y="2450538"/>
                </a:lnTo>
                <a:lnTo>
                  <a:pt x="5800042" y="2493038"/>
                </a:lnTo>
                <a:cubicBezTo>
                  <a:pt x="5520878" y="2831307"/>
                  <a:pt x="5098400" y="3046917"/>
                  <a:pt x="4625556" y="3046917"/>
                </a:cubicBezTo>
                <a:lnTo>
                  <a:pt x="3107978" y="3046917"/>
                </a:lnTo>
                <a:lnTo>
                  <a:pt x="3107978" y="1529337"/>
                </a:lnTo>
                <a:cubicBezTo>
                  <a:pt x="3107978" y="688726"/>
                  <a:pt x="3789410" y="7292"/>
                  <a:pt x="4630021" y="7292"/>
                </a:cubicBezTo>
                <a:close/>
                <a:moveTo>
                  <a:pt x="0" y="0"/>
                </a:moveTo>
                <a:lnTo>
                  <a:pt x="1517580" y="0"/>
                </a:lnTo>
                <a:cubicBezTo>
                  <a:pt x="2358191" y="0"/>
                  <a:pt x="3039624" y="681433"/>
                  <a:pt x="3039624" y="1522044"/>
                </a:cubicBezTo>
                <a:lnTo>
                  <a:pt x="3039624" y="3039623"/>
                </a:lnTo>
                <a:lnTo>
                  <a:pt x="1522045" y="3039623"/>
                </a:lnTo>
                <a:cubicBezTo>
                  <a:pt x="681434" y="3039623"/>
                  <a:pt x="0" y="2358190"/>
                  <a:pt x="0" y="151757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9337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Color Fill">
            <a:extLst>
              <a:ext uri="{FF2B5EF4-FFF2-40B4-BE49-F238E27FC236}">
                <a16:creationId xmlns:a16="http://schemas.microsoft.com/office/drawing/2014/main" id="{E0F166C3-D45F-4A92-A291-15B874AD1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BB4B8F-57A2-4546-9449-6DBBA6E7C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39089" y="-3532"/>
            <a:ext cx="4456394" cy="6861532"/>
            <a:chOff x="7739089" y="-3532"/>
            <a:chExt cx="4456394" cy="686153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C31B59C-8450-4595-B395-B86BCB944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07984" y="4121414"/>
              <a:ext cx="514757" cy="51694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F4BA6E-92B7-48A3-891F-FF1DE970A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4837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599F993-966A-49D6-952F-B95A79671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9158" y="340461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tx2">
                  <a:lumMod val="75000"/>
                  <a:lumOff val="25000"/>
                </a:schemeClr>
              </a:fgClr>
              <a:bgClr>
                <a:schemeClr val="accent1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33" name="Graphic 9">
              <a:extLst>
                <a:ext uri="{FF2B5EF4-FFF2-40B4-BE49-F238E27FC236}">
                  <a16:creationId xmlns:a16="http://schemas.microsoft.com/office/drawing/2014/main" id="{90B896C1-7BD8-4907-8561-4AAB7316D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39089" y="-3532"/>
              <a:ext cx="3875603" cy="3875603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  <a:alpha val="20000"/>
              </a:schemeClr>
            </a:solidFill>
            <a:ln w="2095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35" name="Texture">
            <a:extLst>
              <a:ext uri="{FF2B5EF4-FFF2-40B4-BE49-F238E27FC236}">
                <a16:creationId xmlns:a16="http://schemas.microsoft.com/office/drawing/2014/main" id="{F34FFB17-4733-4A4C-9F36-CE82366CB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8AEF3B-F15A-6397-0D5F-37A1F55F5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68049"/>
            <a:ext cx="6975566" cy="1325563"/>
          </a:xfrm>
        </p:spPr>
        <p:txBody>
          <a:bodyPr>
            <a:normAutofit/>
          </a:bodyPr>
          <a:lstStyle/>
          <a:p>
            <a:r>
              <a:rPr lang="en-GB" dirty="0"/>
              <a:t>Aim &amp; Objectives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3692388-CD68-3D42-6E17-D736886A4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2096713"/>
            <a:ext cx="6975566" cy="40802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/>
              <a:t>Aim: To explore cyberpsychology's role in phishing susceptibility and test an intervention.</a:t>
            </a:r>
          </a:p>
          <a:p>
            <a:r>
              <a:rPr lang="en-GB"/>
              <a:t>Objectives: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Identify psychological traits (e.g., authority bias, urgency effect)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Develop &amp; implement a behaviourally-informed training video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Measure before/after impact with quizzes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/>
              <a:t>Gather user feedback &amp; confidence levels</a:t>
            </a:r>
          </a:p>
        </p:txBody>
      </p:sp>
      <p:pic>
        <p:nvPicPr>
          <p:cNvPr id="4" name="Picture 3" descr="Phishing attacks: defending your organisation - NCSC.GOV.UK">
            <a:extLst>
              <a:ext uri="{FF2B5EF4-FFF2-40B4-BE49-F238E27FC236}">
                <a16:creationId xmlns:a16="http://schemas.microsoft.com/office/drawing/2014/main" id="{1816E3A1-FAF5-3F3C-DB0A-55A59D5C50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09" r="16842" b="2"/>
          <a:stretch/>
        </p:blipFill>
        <p:spPr>
          <a:xfrm>
            <a:off x="7918449" y="168275"/>
            <a:ext cx="3531759" cy="3531758"/>
          </a:xfrm>
          <a:custGeom>
            <a:avLst/>
            <a:gdLst/>
            <a:ahLst/>
            <a:cxnLst/>
            <a:rect l="l" t="t" r="r" b="b"/>
            <a:pathLst>
              <a:path w="3646992" h="3646991">
                <a:moveTo>
                  <a:pt x="0" y="0"/>
                </a:moveTo>
                <a:lnTo>
                  <a:pt x="1820818" y="0"/>
                </a:lnTo>
                <a:cubicBezTo>
                  <a:pt x="2829397" y="0"/>
                  <a:pt x="3646992" y="817595"/>
                  <a:pt x="3646992" y="1826174"/>
                </a:cubicBezTo>
                <a:lnTo>
                  <a:pt x="3646992" y="3646991"/>
                </a:lnTo>
                <a:lnTo>
                  <a:pt x="1826174" y="3646991"/>
                </a:lnTo>
                <a:cubicBezTo>
                  <a:pt x="817595" y="3646991"/>
                  <a:pt x="0" y="2829396"/>
                  <a:pt x="0" y="182081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7916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Graphic 9">
            <a:extLst>
              <a:ext uri="{FF2B5EF4-FFF2-40B4-BE49-F238E27FC236}">
                <a16:creationId xmlns:a16="http://schemas.microsoft.com/office/drawing/2014/main" id="{9A450B93-9615-4854-BEA5-4A85DF5CD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6719" y="0"/>
            <a:ext cx="6905281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0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A56F9-B783-15D8-1832-AE171FC6C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8952"/>
            <a:ext cx="4640729" cy="1325563"/>
          </a:xfrm>
        </p:spPr>
        <p:txBody>
          <a:bodyPr anchor="b">
            <a:normAutofit/>
          </a:bodyPr>
          <a:lstStyle/>
          <a:p>
            <a:r>
              <a:rPr lang="en-GB" dirty="0"/>
              <a:t>Methodology</a:t>
            </a: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77307FDC-BD53-EE42-B597-AA1FC46C01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286000"/>
          <a:ext cx="4640729" cy="3887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The Ultimate Guide To Phishing Techniques: Things You Need To Know About  Phishing - PhishProtection.com">
            <a:extLst>
              <a:ext uri="{FF2B5EF4-FFF2-40B4-BE49-F238E27FC236}">
                <a16:creationId xmlns:a16="http://schemas.microsoft.com/office/drawing/2014/main" id="{ADFCAE7D-2591-565B-111E-8F4BAEF55C4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745" r="11675" b="2"/>
          <a:stretch/>
        </p:blipFill>
        <p:spPr>
          <a:xfrm>
            <a:off x="6566913" y="1197434"/>
            <a:ext cx="4593771" cy="459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4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Graphic 9">
            <a:extLst>
              <a:ext uri="{FF2B5EF4-FFF2-40B4-BE49-F238E27FC236}">
                <a16:creationId xmlns:a16="http://schemas.microsoft.com/office/drawing/2014/main" id="{9A450B93-9615-4854-BEA5-4A85DF5CD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6719" y="0"/>
            <a:ext cx="6905281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39FF8-16A6-C558-1832-096C9E9D4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8952"/>
            <a:ext cx="4640729" cy="1325563"/>
          </a:xfrm>
        </p:spPr>
        <p:txBody>
          <a:bodyPr anchor="b">
            <a:normAutofit/>
          </a:bodyPr>
          <a:lstStyle/>
          <a:p>
            <a:r>
              <a:rPr lang="en-GB" dirty="0"/>
              <a:t>The Intervention</a:t>
            </a:r>
          </a:p>
        </p:txBody>
      </p:sp>
      <p:pic>
        <p:nvPicPr>
          <p:cNvPr id="4" name="Picture 3" descr="A white and black text&#10;&#10;AI-generated content may be incorrect.">
            <a:extLst>
              <a:ext uri="{FF2B5EF4-FFF2-40B4-BE49-F238E27FC236}">
                <a16:creationId xmlns:a16="http://schemas.microsoft.com/office/drawing/2014/main" id="{1E0B56E3-BF94-5627-0D80-1DCBC1313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913" y="2219544"/>
            <a:ext cx="4593771" cy="2549542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328DC79-5DB9-8C72-EBA1-7D548895D9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648064"/>
              </p:ext>
            </p:extLst>
          </p:nvPr>
        </p:nvGraphicFramePr>
        <p:xfrm>
          <a:off x="457200" y="2286000"/>
          <a:ext cx="4640729" cy="3887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5369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Graphic 9">
            <a:extLst>
              <a:ext uri="{FF2B5EF4-FFF2-40B4-BE49-F238E27FC236}">
                <a16:creationId xmlns:a16="http://schemas.microsoft.com/office/drawing/2014/main" id="{9A450B93-9615-4854-BEA5-4A85DF5CD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6719" y="0"/>
            <a:ext cx="6905281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5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48A27-6CAF-8AAA-E73C-96F785D5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8952"/>
            <a:ext cx="4640729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Results – Pre-Test vs Post-Test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440EF-CEE1-F443-0103-3F79C118A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0"/>
            <a:ext cx="4640729" cy="38875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Pre-Test Pass: 34 out of 73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Post-Test Pass: 55 out of 73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61.5% overall improvement after training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83373185-C113-D0C1-C7B5-05CBEEB7C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913" y="2116185"/>
            <a:ext cx="4593771" cy="275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23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 Fill">
            <a:extLst>
              <a:ext uri="{FF2B5EF4-FFF2-40B4-BE49-F238E27FC236}">
                <a16:creationId xmlns:a16="http://schemas.microsoft.com/office/drawing/2014/main" id="{03AE087C-11E2-4305-9282-D7F122FE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B5EDF7FE-D297-788A-397C-081EC339FC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-1" b="622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85AFBF-0D11-565A-5B0C-91D70CE05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Click Rate Drop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2D905-D4FC-61CD-473C-A8CC591A0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96713"/>
            <a:ext cx="7685037" cy="40802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Click-through rate dropped significantly post-training</a:t>
            </a:r>
          </a:p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Indicates improved caution and phishing detection</a:t>
            </a:r>
          </a:p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Confidence levels also increased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ECCFA5-40A0-4B37-8B7B-D912C28A1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69C0F1-62DE-46AE-9526-CBD795D1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340BA6BB-87A1-4F4A-8B9B-D7B83FE58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CC2ADB9-B92C-4252-B47E-B41B61AFF4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02BB26-7CE5-4FAE-A255-5DEF1B3F3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B65C1BB9-F5F2-4728-B47D-3B2F995E9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A26117A4-4B2F-495A-87A5-63E265B52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45647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A533261-94EC-4494-86AB-1382C7333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B06ABDF2-57ED-4DC5-BB96-62CEE5DBD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06D5EDC2-3737-4DED-AB3C-B42358F81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 useBgFill="1">
        <p:nvSpPr>
          <p:cNvPr id="15" name="Graphic 9">
            <a:extLst>
              <a:ext uri="{FF2B5EF4-FFF2-40B4-BE49-F238E27FC236}">
                <a16:creationId xmlns:a16="http://schemas.microsoft.com/office/drawing/2014/main" id="{089C1A08-A75B-45D5-8A9D-680682C13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8410" y="0"/>
            <a:ext cx="6858000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ln w="93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ure">
            <a:extLst>
              <a:ext uri="{FF2B5EF4-FFF2-40B4-BE49-F238E27FC236}">
                <a16:creationId xmlns:a16="http://schemas.microsoft.com/office/drawing/2014/main" id="{51B4E1F8-DA38-44DA-8B73-7EC281F24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C1BFAC-A188-0849-08FF-D3BAEFF2B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68049"/>
            <a:ext cx="4595834" cy="559407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Feedback &amp; Behavioural Insight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F3421A-6B82-8144-3FBA-8F0C3E8581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642430"/>
              </p:ext>
            </p:extLst>
          </p:nvPr>
        </p:nvGraphicFramePr>
        <p:xfrm>
          <a:off x="5805612" y="668049"/>
          <a:ext cx="5944427" cy="5594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5186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 Fill">
            <a:extLst>
              <a:ext uri="{FF2B5EF4-FFF2-40B4-BE49-F238E27FC236}">
                <a16:creationId xmlns:a16="http://schemas.microsoft.com/office/drawing/2014/main" id="{03AE087C-11E2-4305-9282-D7F122FE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C5CC1-4C09-C0F5-29D1-DBBF447E10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6274" b="6250"/>
          <a:stretch/>
        </p:blipFill>
        <p:spPr>
          <a:xfrm>
            <a:off x="20" y="857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D0917A-F424-EBD9-0CF5-8ACEFA8C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Strengths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93188-6175-4A6F-1AC3-DDFB171E3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96713"/>
            <a:ext cx="7685037" cy="40802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FFFFFF"/>
                </a:solidFill>
                <a:ea typeface="+mn-lt"/>
                <a:cs typeface="+mn-lt"/>
              </a:rPr>
              <a:t>Strengths:</a:t>
            </a:r>
            <a:endParaRPr lang="en-US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Realistic phishing scenarios based on behavioural manipulation</a:t>
            </a:r>
            <a:endParaRPr lang="en-US"/>
          </a:p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High participant engagement driven by gamified design</a:t>
            </a:r>
            <a:endParaRPr lang="en-US"/>
          </a:p>
          <a:p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Limitations: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No demographic segmentation</a:t>
            </a:r>
            <a:endParaRPr lang="en-US" dirty="0"/>
          </a:p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Quizzes delivered online — environment not fully controlled</a:t>
            </a:r>
            <a:endParaRPr lang="en-US" dirty="0"/>
          </a:p>
          <a:p>
            <a:r>
              <a:rPr lang="en-US" dirty="0">
                <a:solidFill>
                  <a:srgbClr val="FFFFFF"/>
                </a:solidFill>
              </a:rPr>
              <a:t>Small sample size</a:t>
            </a:r>
          </a:p>
          <a:p>
            <a:endParaRPr lang="en-US" b="1" dirty="0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ACF365D-F104-414F-93C3-D9F568808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5D118A1-A4AD-4C47-99CC-852FAD146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D3E51544-0AB7-4546-AB57-868FB0B41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6DB3A34-0E17-44F2-A958-5C6EE80E3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343AE4-2356-4838-B706-3A16FFFDE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D78B9AE4-2096-42B5-B267-1FCCF56F8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827DE0C5-02AF-4323-9CB7-E4C1D6449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41793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471A3572-4543-4883-A749-0458CD870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4036AB30-180B-4ED5-A38B-175705419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>
              <a:lumMod val="90000"/>
              <a:lumOff val="10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D184DA16-AE6D-48E1-A4C2-38FF16FD1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pattFill prst="pct5">
            <a:fgClr>
              <a:schemeClr val="accent4">
                <a:lumMod val="50000"/>
              </a:schemeClr>
            </a:fgClr>
            <a:bgClr>
              <a:schemeClr val="accent4">
                <a:lumMod val="75000"/>
              </a:schemeClr>
            </a:bgClr>
          </a:patt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ure">
            <a:extLst>
              <a:ext uri="{FF2B5EF4-FFF2-40B4-BE49-F238E27FC236}">
                <a16:creationId xmlns:a16="http://schemas.microsoft.com/office/drawing/2014/main" id="{E6EAF81C-C73D-4B33-B264-ECF0C2A23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9339603-7D99-48BF-9B43-B81E49DD3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93710"/>
            <a:ext cx="11298473" cy="5668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71BD07-F492-55EC-B7D3-793CAF79C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5" y="849394"/>
            <a:ext cx="10741713" cy="13607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CA72BC-C02B-3218-D4B1-209FEA6F24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7410168"/>
              </p:ext>
            </p:extLst>
          </p:nvPr>
        </p:nvGraphicFramePr>
        <p:xfrm>
          <a:off x="729456" y="2340171"/>
          <a:ext cx="10741714" cy="371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9715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Graphic 9">
            <a:extLst>
              <a:ext uri="{FF2B5EF4-FFF2-40B4-BE49-F238E27FC236}">
                <a16:creationId xmlns:a16="http://schemas.microsoft.com/office/drawing/2014/main" id="{9A450B93-9615-4854-BEA5-4A85DF5CD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6719" y="0"/>
            <a:ext cx="6905281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24878B-C4E0-B9FB-970E-775394FF3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8952"/>
            <a:ext cx="4640729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Practical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6BFCF-95E3-FA80-D8B0-F4D786FCC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0"/>
            <a:ext cx="4640729" cy="38875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Deployable in schools, universities, and corporate settings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Minimal cost, scalable delivery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Focuses on </a:t>
            </a:r>
            <a:r>
              <a:rPr lang="en-US" dirty="0" err="1">
                <a:ea typeface="+mn-lt"/>
                <a:cs typeface="+mn-lt"/>
              </a:rPr>
              <a:t>behavioural</a:t>
            </a:r>
            <a:r>
              <a:rPr lang="en-US" dirty="0">
                <a:ea typeface="+mn-lt"/>
                <a:cs typeface="+mn-lt"/>
              </a:rPr>
              <a:t> change, not just awareness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Fits into cybersecurity onboarding or compliance training</a:t>
            </a:r>
            <a:endParaRPr lang="en-US" dirty="0"/>
          </a:p>
          <a:p>
            <a:endParaRPr lang="en-US" dirty="0"/>
          </a:p>
        </p:txBody>
      </p:sp>
      <p:pic>
        <p:nvPicPr>
          <p:cNvPr id="7" name="Graphic 6" descr="Schoolhouse">
            <a:extLst>
              <a:ext uri="{FF2B5EF4-FFF2-40B4-BE49-F238E27FC236}">
                <a16:creationId xmlns:a16="http://schemas.microsoft.com/office/drawing/2014/main" id="{23E9E6AB-9F7E-230C-3480-E74D6BB9B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6913" y="1197430"/>
            <a:ext cx="4593771" cy="459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80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1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23" name="Background Fill">
            <a:extLst>
              <a:ext uri="{FF2B5EF4-FFF2-40B4-BE49-F238E27FC236}">
                <a16:creationId xmlns:a16="http://schemas.microsoft.com/office/drawing/2014/main" id="{A7971386-B2B0-4A38-8D3B-8CF23AAA6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Color Fill">
            <a:extLst>
              <a:ext uri="{FF2B5EF4-FFF2-40B4-BE49-F238E27FC236}">
                <a16:creationId xmlns:a16="http://schemas.microsoft.com/office/drawing/2014/main" id="{06FDC3C5-8431-45BA-A6F9-CFFCB567E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F375F62-07E0-443B-9C48-A98235932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39089" y="-3532"/>
            <a:ext cx="4449863" cy="6861532"/>
            <a:chOff x="7739089" y="-3532"/>
            <a:chExt cx="4449863" cy="6861532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AD3DE53-A5DD-4681-A623-D2ABA4F58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5951" y="1365822"/>
              <a:ext cx="819954" cy="995873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1">
                  <a:lumMod val="75000"/>
                </a:schemeClr>
              </a:fgClr>
              <a:bgClr>
                <a:schemeClr val="accent1">
                  <a:lumMod val="5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180B35-C330-4CE0-8539-329851544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07984" y="4121414"/>
              <a:ext cx="514757" cy="51694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0F4DE9E-8700-47A1-B979-37CF4E27F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4837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DA72DB4-0020-442C-A0F9-7320837E1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627" y="340461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tx2">
                  <a:lumMod val="75000"/>
                  <a:lumOff val="25000"/>
                </a:schemeClr>
              </a:fgClr>
              <a:bgClr>
                <a:schemeClr val="accent1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41" name="Graphic 9">
              <a:extLst>
                <a:ext uri="{FF2B5EF4-FFF2-40B4-BE49-F238E27FC236}">
                  <a16:creationId xmlns:a16="http://schemas.microsoft.com/office/drawing/2014/main" id="{BC11E757-F50F-4F18-9F0D-6DF406191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39089" y="-3532"/>
              <a:ext cx="3875603" cy="3875603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  <a:alpha val="20000"/>
              </a:schemeClr>
            </a:solidFill>
            <a:ln w="2095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3" name="Graphic 9">
              <a:extLst>
                <a:ext uri="{FF2B5EF4-FFF2-40B4-BE49-F238E27FC236}">
                  <a16:creationId xmlns:a16="http://schemas.microsoft.com/office/drawing/2014/main" id="{E8A144E7-745C-4BEF-AE3D-D714ABF11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5862" y="556562"/>
              <a:ext cx="2681635" cy="268163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Graphic 9">
              <a:extLst>
                <a:ext uri="{FF2B5EF4-FFF2-40B4-BE49-F238E27FC236}">
                  <a16:creationId xmlns:a16="http://schemas.microsoft.com/office/drawing/2014/main" id="{AE4696B9-5372-4006-B954-F44B5BDAA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55227" y="17974"/>
              <a:ext cx="3875605" cy="3875603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rgbClr val="FFFFFF"/>
            </a:solidFill>
            <a:ln w="38100" cap="flat">
              <a:solidFill>
                <a:srgbClr val="F7F7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6" name="Texture">
            <a:extLst>
              <a:ext uri="{FF2B5EF4-FFF2-40B4-BE49-F238E27FC236}">
                <a16:creationId xmlns:a16="http://schemas.microsoft.com/office/drawing/2014/main" id="{0D29D77D-2D4E-4868-960B-BEDA724F5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CC4795-3BD1-1277-912F-EE956EFB7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6656"/>
            <a:ext cx="6953436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B4564-B5CD-C035-2738-CF68896D3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97348"/>
            <a:ext cx="6953436" cy="225897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/>
              <a:t>Questions?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94A9F26B-E148-F613-B6AC-6370913EE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4038" y="628650"/>
            <a:ext cx="2620498" cy="262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58885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Tropic">
      <a:dk1>
        <a:srgbClr val="000000"/>
      </a:dk1>
      <a:lt1>
        <a:sysClr val="window" lastClr="FFFFFF"/>
      </a:lt1>
      <a:dk2>
        <a:srgbClr val="09392F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68E74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TropicVTI</vt:lpstr>
      <vt:lpstr>Investigating Cyber Psychology in the Context of User Behaviour and Email-Based Malware</vt:lpstr>
      <vt:lpstr>Context &amp; Problem</vt:lpstr>
      <vt:lpstr>Aim &amp; Objectives</vt:lpstr>
      <vt:lpstr>Methodology</vt:lpstr>
      <vt:lpstr>The Intervention</vt:lpstr>
      <vt:lpstr>Results – Pre-Test vs Post-Test</vt:lpstr>
      <vt:lpstr>Click Rate Drop</vt:lpstr>
      <vt:lpstr>Feedback &amp; Behavioural Insight</vt:lpstr>
      <vt:lpstr>Strengths &amp; Limitations</vt:lpstr>
      <vt:lpstr>Future Work</vt:lpstr>
      <vt:lpstr>Practical Application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116</cp:revision>
  <dcterms:created xsi:type="dcterms:W3CDTF">2025-04-10T09:52:22Z</dcterms:created>
  <dcterms:modified xsi:type="dcterms:W3CDTF">2025-04-10T10:49:33Z</dcterms:modified>
</cp:coreProperties>
</file>